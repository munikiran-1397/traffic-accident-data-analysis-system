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8" r:id="rId4"/>
    <p:sldId id="273" r:id="rId5"/>
    <p:sldId id="274" r:id="rId6"/>
    <p:sldId id="275" r:id="rId7"/>
    <p:sldId id="276" r:id="rId8"/>
    <p:sldId id="277" r:id="rId9"/>
    <p:sldId id="259" r:id="rId10"/>
    <p:sldId id="260" r:id="rId11"/>
    <p:sldId id="278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8133E-B542-4022-B73D-06DECD159592}" v="20" dt="2026-09-20T11:59:12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83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 Kiran" userId="3dc8e06581886eeb" providerId="LiveId" clId="{6481158B-392E-484F-9FF7-8F98622555B6}"/>
    <pc:docChg chg="custSel modSld">
      <pc:chgData name="Muni Kiran" userId="3dc8e06581886eeb" providerId="LiveId" clId="{6481158B-392E-484F-9FF7-8F98622555B6}" dt="2026-09-20T13:49:02.758" v="29" actId="20577"/>
      <pc:docMkLst>
        <pc:docMk/>
      </pc:docMkLst>
      <pc:sldChg chg="modSp mod">
        <pc:chgData name="Muni Kiran" userId="3dc8e06581886eeb" providerId="LiveId" clId="{6481158B-392E-484F-9FF7-8F98622555B6}" dt="2026-09-20T13:23:41.176" v="7" actId="20577"/>
        <pc:sldMkLst>
          <pc:docMk/>
          <pc:sldMk cId="0" sldId="273"/>
        </pc:sldMkLst>
        <pc:graphicFrameChg chg="modGraphic">
          <ac:chgData name="Muni Kiran" userId="3dc8e06581886eeb" providerId="LiveId" clId="{6481158B-392E-484F-9FF7-8F98622555B6}" dt="2026-09-20T13:23:41.176" v="7" actId="20577"/>
          <ac:graphicFrameMkLst>
            <pc:docMk/>
            <pc:sldMk cId="0" sldId="273"/>
            <ac:graphicFrameMk id="5" creationId="{00000000-0000-0000-0000-000000000000}"/>
          </ac:graphicFrameMkLst>
        </pc:graphicFrameChg>
      </pc:sldChg>
      <pc:sldChg chg="modSp mod">
        <pc:chgData name="Muni Kiran" userId="3dc8e06581886eeb" providerId="LiveId" clId="{6481158B-392E-484F-9FF7-8F98622555B6}" dt="2026-09-20T13:49:02.758" v="29" actId="20577"/>
        <pc:sldMkLst>
          <pc:docMk/>
          <pc:sldMk cId="0" sldId="275"/>
        </pc:sldMkLst>
        <pc:spChg chg="mod">
          <ac:chgData name="Muni Kiran" userId="3dc8e06581886eeb" providerId="LiveId" clId="{6481158B-392E-484F-9FF7-8F98622555B6}" dt="2026-09-20T13:49:02.758" v="29" actId="20577"/>
          <ac:spMkLst>
            <pc:docMk/>
            <pc:sldMk cId="0" sldId="27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D67E1-C980-4278-95AB-3FC3A6D50E0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2C30-C486-4614-BBB8-CB20F6610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03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40747" y="1143000"/>
            <a:ext cx="6880025" cy="1523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6"/>
                </a:solidFill>
              </a:defRPr>
            </a:pPr>
            <a:r>
              <a:rPr sz="34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</a:p>
          <a:p>
            <a:pPr algn="ctr">
              <a:defRPr sz="2700" b="1">
                <a:solidFill>
                  <a:srgbClr val="4472C4"/>
                </a:solidFill>
              </a:defRPr>
            </a:pPr>
            <a:r>
              <a:rPr sz="2700" b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 — Second Review</a:t>
            </a:r>
          </a:p>
          <a:p>
            <a:pPr algn="ctr"/>
            <a:r>
              <a:rPr lang="en-US" sz="3200" b="1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 Accident Data Analysis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3749039"/>
            <a:ext cx="5212080" cy="175369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600" y="3877055"/>
            <a:ext cx="4882896" cy="173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.KIRAN PRABHU       -    (25B11AIB29)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V.GANESH		    -    (25B11AIC58)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M.MUNI KIRAN 	    -    (25B11AI646)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T.SAI MANISH 	    -    (25B11AIB78)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63640" y="3749038"/>
            <a:ext cx="4937760" cy="1753689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1" y="3877055"/>
            <a:ext cx="4608576" cy="888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sz="1500" b="1" dirty="0">
              <a:solidFill>
                <a:srgbClr val="1F375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defRPr sz="1250">
                <a:solidFill>
                  <a:srgbClr val="2D2D2D"/>
                </a:solidFill>
              </a:defRPr>
            </a:pPr>
            <a:r>
              <a:rPr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4B0A9B6E-6BED-E770-BD74-9A366B3B1D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280" y="270433"/>
            <a:ext cx="4610910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AGENDA</a:t>
            </a:r>
          </a:p>
        </p:txBody>
      </p:sp>
      <p:sp>
        <p:nvSpPr>
          <p:cNvPr id="5" name="Agenda 01"/>
          <p:cNvSpPr/>
          <p:nvPr/>
        </p:nvSpPr>
        <p:spPr>
          <a:xfrm>
            <a:off x="594360" y="1900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Project Overview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Problem, objective, domain and target variable</a:t>
            </a:r>
          </a:p>
        </p:txBody>
      </p:sp>
      <p:sp>
        <p:nvSpPr>
          <p:cNvPr id="6" name="Number Badge"/>
          <p:cNvSpPr/>
          <p:nvPr/>
        </p:nvSpPr>
        <p:spPr>
          <a:xfrm>
            <a:off x="774360" y="2070000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Agenda 02"/>
          <p:cNvSpPr/>
          <p:nvPr/>
        </p:nvSpPr>
        <p:spPr>
          <a:xfrm>
            <a:off x="594360" y="2990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Dataset &amp; Tools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12 columns of accident data; Python stack in Google Colab</a:t>
            </a:r>
          </a:p>
        </p:txBody>
      </p:sp>
      <p:sp>
        <p:nvSpPr>
          <p:cNvPr id="8" name="Number Badge"/>
          <p:cNvSpPr/>
          <p:nvPr/>
        </p:nvSpPr>
        <p:spPr>
          <a:xfrm>
            <a:off x="774360" y="3160000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9" name="Agenda 03"/>
          <p:cNvSpPr/>
          <p:nvPr/>
        </p:nvSpPr>
        <p:spPr>
          <a:xfrm>
            <a:off x="594360" y="4080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 dirty="0">
                <a:solidFill>
                  <a:srgbClr val="1F3756"/>
                </a:solidFill>
                <a:latin typeface="Times New Roman"/>
              </a:rPr>
              <a:t>Data Loading &amp; Inspection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2D2D2D"/>
                </a:solidFill>
                <a:latin typeface="Times New Roman"/>
              </a:rPr>
              <a:t>Upload, read, preview and measure the raw dataset</a:t>
            </a:r>
          </a:p>
        </p:txBody>
      </p:sp>
      <p:sp>
        <p:nvSpPr>
          <p:cNvPr id="10" name="Number Badge"/>
          <p:cNvSpPr/>
          <p:nvPr/>
        </p:nvSpPr>
        <p:spPr>
          <a:xfrm>
            <a:off x="774360" y="4250000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1" name="Agenda 04"/>
          <p:cNvSpPr/>
          <p:nvPr/>
        </p:nvSpPr>
        <p:spPr>
          <a:xfrm>
            <a:off x="6244360" y="1936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Data Cleaning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Removing duplicates and filling missing values</a:t>
            </a:r>
          </a:p>
        </p:txBody>
      </p:sp>
      <p:sp>
        <p:nvSpPr>
          <p:cNvPr id="12" name="Number Badge"/>
          <p:cNvSpPr/>
          <p:nvPr/>
        </p:nvSpPr>
        <p:spPr>
          <a:xfrm>
            <a:off x="6424360" y="2072614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13" name="Agenda 05"/>
          <p:cNvSpPr/>
          <p:nvPr/>
        </p:nvSpPr>
        <p:spPr>
          <a:xfrm>
            <a:off x="6244360" y="3005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 dirty="0">
                <a:solidFill>
                  <a:srgbClr val="1F3756"/>
                </a:solidFill>
                <a:latin typeface="Times New Roman"/>
              </a:rPr>
              <a:t>Data Preprocessing</a:t>
            </a:r>
          </a:p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2D2D2D"/>
                </a:solidFill>
                <a:latin typeface="Times New Roman"/>
              </a:rPr>
              <a:t>Scaling, standardization and encoding</a:t>
            </a:r>
          </a:p>
        </p:txBody>
      </p:sp>
      <p:sp>
        <p:nvSpPr>
          <p:cNvPr id="14" name="Number Badge"/>
          <p:cNvSpPr/>
          <p:nvPr/>
        </p:nvSpPr>
        <p:spPr>
          <a:xfrm>
            <a:off x="6424360" y="3145000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17" name="Agenda 07"/>
          <p:cNvSpPr/>
          <p:nvPr/>
        </p:nvSpPr>
        <p:spPr>
          <a:xfrm>
            <a:off x="6244360" y="4080000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120" tIns="73152" rIns="137160" bIns="73152" rtlCol="0" anchor="ctr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Workflow &amp; Conclusion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End-to-end pipeline, summary and Q&amp;A</a:t>
            </a:r>
          </a:p>
        </p:txBody>
      </p:sp>
      <p:sp>
        <p:nvSpPr>
          <p:cNvPr id="18" name="Number Badge"/>
          <p:cNvSpPr/>
          <p:nvPr/>
        </p:nvSpPr>
        <p:spPr>
          <a:xfrm>
            <a:off x="6424360" y="4250000"/>
            <a:ext cx="560000" cy="56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07</a:t>
            </a:r>
          </a:p>
        </p:txBody>
      </p:sp>
      <p:sp>
        <p:nvSpPr>
          <p:cNvPr id="19" name="Scope Note"/>
          <p:cNvSpPr/>
          <p:nvPr/>
        </p:nvSpPr>
        <p:spPr>
          <a:xfrm>
            <a:off x="3548349" y="5419365"/>
            <a:ext cx="5350000" cy="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200"/>
              </a:spcAft>
            </a:pPr>
            <a:r>
              <a:rPr sz="1500" b="1" i="0" dirty="0">
                <a:solidFill>
                  <a:srgbClr val="1F3756"/>
                </a:solidFill>
                <a:latin typeface="Times New Roman"/>
              </a:rPr>
              <a:t>Scope of this review</a:t>
            </a: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2D2D2D"/>
                </a:solidFill>
                <a:latin typeface="Times New Roman"/>
              </a:rPr>
              <a:t>Implementation, preprocessing and analysis on the traffic accident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988635"/>
            <a:ext cx="101829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sz="2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— </a:t>
            </a:r>
            <a:r>
              <a:rPr lang="en-US" sz="2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ACCIDENT DATA ANALYSIS</a:t>
            </a:r>
            <a:endParaRPr sz="2600" b="1" dirty="0">
              <a:solidFill>
                <a:srgbClr val="1F375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948755"/>
            <a:ext cx="640080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factors most associated with accident severity and frequency and highlight high-risk accident locations.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Inspect, clean and preprocess the traffic accident dataset for further analysis.</a:t>
            </a:r>
            <a:endParaRPr lang="en-US" sz="16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Safety / Transportation.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IN"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</a:t>
            </a:r>
            <a:r>
              <a:rPr lang="en-IN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3,024 raw accident records and 12 columns; 3,000 records after cleaning.</a:t>
            </a:r>
          </a:p>
          <a:p>
            <a:r>
              <a:rPr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IN"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1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and </a:t>
            </a:r>
            <a:r>
              <a:rPr lang="en-IN" sz="1600" dirty="0" err="1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ready for further analysis.</a:t>
            </a:r>
            <a:endParaRPr lang="en-US" sz="160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06640" y="2040195"/>
            <a:ext cx="406908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71231" y="2251960"/>
            <a:ext cx="3739896" cy="55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Severity → Minor / Serious / Fatal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06640" y="3366075"/>
            <a:ext cx="406908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71231" y="3494091"/>
            <a:ext cx="3739896" cy="80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Location, </a:t>
            </a:r>
            <a:r>
              <a:rPr lang="en-US" sz="1400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Weather_Condition</a:t>
            </a: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Road_Type</a:t>
            </a: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Vehicle_Type</a:t>
            </a: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Light_Condition</a:t>
            </a: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Speed_Limit</a:t>
            </a:r>
            <a:endParaRPr lang="en-US" sz="1400" dirty="0">
              <a:solidFill>
                <a:srgbClr val="2D2D2D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06640" y="4691955"/>
            <a:ext cx="406908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4819971"/>
            <a:ext cx="3739896" cy="80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 •  Pandas  •  NumPy  •  Google Colab</a:t>
            </a: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58E52A97-EAE7-90F5-C23B-D7ED7B7B56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DATASET DESCRIPTION — 12 COLUMNS</a:t>
            </a:r>
          </a:p>
        </p:txBody>
      </p:sp>
      <p:graphicFrame>
        <p:nvGraphicFramePr>
          <p:cNvPr id="5" name="Colum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124784"/>
              </p:ext>
            </p:extLst>
          </p:nvPr>
        </p:nvGraphicFramePr>
        <p:xfrm>
          <a:off x="594360" y="1750000"/>
          <a:ext cx="7500000" cy="4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73152" marR="54864" marT="18288" marB="18288" anchor="ctr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3152" marR="54864" marT="18288" marB="18288" anchor="ctr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73152" marR="54864" marT="18288" marB="18288" anchor="ctr"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Accident_ID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Identifier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Unique ID of each accident record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Month_Year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Date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Month and year of the accident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Time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Time of day of the accident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D2D2D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Categorical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City and state of the accident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3756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kern="1200" dirty="0" err="1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Accident_Severity</a:t>
                      </a:r>
                      <a:endParaRPr sz="1200" b="0" i="0" kern="1200" dirty="0">
                        <a:solidFill>
                          <a:srgbClr val="2D2D2D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0" i="0" kern="12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Categorical 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0" i="0" kern="12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Minor / Serious / Fatal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Light_Condition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Categorical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Lighting condition at the time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Weather_Condition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Categorical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Weather condition at the time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Road_Type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Categorical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Type of road where it occurred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Vehicle_Type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Categorical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Type of vehicle involved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Speed_Limit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Speed limit at the location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Number_of_Casualties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Casualties in the accident</a:t>
                      </a:r>
                    </a:p>
                  </a:txBody>
                  <a:tcPr marL="73152" marR="54864" marT="18288" marB="18288" anchor="ctr"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Number_of_Fatalities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Numeric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D2D2D"/>
                          </a:solidFill>
                          <a:latin typeface="Times New Roman"/>
                        </a:rPr>
                        <a:t>Fatalities in the accident</a:t>
                      </a:r>
                    </a:p>
                  </a:txBody>
                  <a:tcPr marL="73152" marR="54864" marT="18288" marB="18288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tat 1"/>
          <p:cNvSpPr/>
          <p:nvPr/>
        </p:nvSpPr>
        <p:spPr>
          <a:xfrm>
            <a:off x="8394360" y="1750000"/>
            <a:ext cx="3200000" cy="1383333"/>
          </a:xfrm>
          <a:prstGeom prst="roundRect">
            <a:avLst>
              <a:gd name="adj" fmla="val 939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F3756"/>
                </a:solidFill>
                <a:latin typeface="Times New Roman"/>
              </a:rPr>
              <a:t>3,024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raw accident records</a:t>
            </a:r>
          </a:p>
        </p:txBody>
      </p:sp>
      <p:sp>
        <p:nvSpPr>
          <p:cNvPr id="7" name="Stat 2"/>
          <p:cNvSpPr/>
          <p:nvPr/>
        </p:nvSpPr>
        <p:spPr>
          <a:xfrm>
            <a:off x="8394360" y="3333333"/>
            <a:ext cx="3200000" cy="1383333"/>
          </a:xfrm>
          <a:prstGeom prst="roundRect">
            <a:avLst>
              <a:gd name="adj" fmla="val 939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F3756"/>
                </a:solidFill>
                <a:latin typeface="Times New Roman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columns / features</a:t>
            </a:r>
          </a:p>
        </p:txBody>
      </p:sp>
      <p:sp>
        <p:nvSpPr>
          <p:cNvPr id="8" name="Stat 3"/>
          <p:cNvSpPr/>
          <p:nvPr/>
        </p:nvSpPr>
        <p:spPr>
          <a:xfrm>
            <a:off x="8394360" y="4916666"/>
            <a:ext cx="3200000" cy="1383333"/>
          </a:xfrm>
          <a:prstGeom prst="roundRect">
            <a:avLst>
              <a:gd name="adj" fmla="val 939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F3756"/>
                </a:solidFill>
                <a:latin typeface="Times New Roman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severity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TOOLS &amp; LIBRARIES USED</a:t>
            </a:r>
          </a:p>
        </p:txBody>
      </p:sp>
      <p:sp>
        <p:nvSpPr>
          <p:cNvPr id="5" name="Tool Python"/>
          <p:cNvSpPr/>
          <p:nvPr/>
        </p:nvSpPr>
        <p:spPr>
          <a:xfrm>
            <a:off x="594360" y="1900000"/>
            <a:ext cx="2550000" cy="2250000"/>
          </a:xfrm>
          <a:prstGeom prst="roundRect">
            <a:avLst>
              <a:gd name="adj" fmla="val 577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182880" bIns="137160" rtlCol="0" anchor="t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F3756"/>
                </a:solidFill>
                <a:latin typeface="Times New Roman"/>
              </a:rPr>
              <a:t>Python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Core programming language used to write the whole workflow from loading to analysis.</a:t>
            </a:r>
          </a:p>
        </p:txBody>
      </p:sp>
      <p:sp>
        <p:nvSpPr>
          <p:cNvPr id="6" name="Tool Pandas"/>
          <p:cNvSpPr/>
          <p:nvPr/>
        </p:nvSpPr>
        <p:spPr>
          <a:xfrm>
            <a:off x="3411360" y="1900000"/>
            <a:ext cx="2550000" cy="2250000"/>
          </a:xfrm>
          <a:prstGeom prst="roundRect">
            <a:avLst>
              <a:gd name="adj" fmla="val 577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182880" bIns="137160" rtlCol="0" anchor="t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F3756"/>
                </a:solidFill>
                <a:latin typeface="Times New Roman"/>
              </a:rPr>
              <a:t>Pandas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Loads the CSV into a DataFrame; used for inspection, duplicate removal and missing-value handling.</a:t>
            </a:r>
          </a:p>
        </p:txBody>
      </p:sp>
      <p:sp>
        <p:nvSpPr>
          <p:cNvPr id="7" name="Tool NumPy"/>
          <p:cNvSpPr/>
          <p:nvPr/>
        </p:nvSpPr>
        <p:spPr>
          <a:xfrm>
            <a:off x="6228360" y="1900000"/>
            <a:ext cx="2550000" cy="2250000"/>
          </a:xfrm>
          <a:prstGeom prst="roundRect">
            <a:avLst>
              <a:gd name="adj" fmla="val 577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182880" bIns="137160" rtlCol="0" anchor="t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F3756"/>
                </a:solidFill>
                <a:latin typeface="Times New Roman"/>
              </a:rPr>
              <a:t>NumPy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Numerical computing support for the numeric columns during preprocessing.</a:t>
            </a:r>
          </a:p>
        </p:txBody>
      </p:sp>
      <p:sp>
        <p:nvSpPr>
          <p:cNvPr id="8" name="Tool Google Colab"/>
          <p:cNvSpPr/>
          <p:nvPr/>
        </p:nvSpPr>
        <p:spPr>
          <a:xfrm>
            <a:off x="9045360" y="1900000"/>
            <a:ext cx="2550000" cy="2250000"/>
          </a:xfrm>
          <a:prstGeom prst="roundRect">
            <a:avLst>
              <a:gd name="adj" fmla="val 577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182880" bIns="137160" rtlCol="0" anchor="t"/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F3756"/>
                </a:solidFill>
                <a:latin typeface="Times New Roman"/>
              </a:rPr>
              <a:t>Google Colab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Cloud notebook where each stage runs with code and output shown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DATA LOADING &amp; INSPECTION</a:t>
            </a:r>
          </a:p>
        </p:txBody>
      </p:sp>
      <p:sp>
        <p:nvSpPr>
          <p:cNvPr id="5" name="Step 1"/>
          <p:cNvSpPr/>
          <p:nvPr/>
        </p:nvSpPr>
        <p:spPr>
          <a:xfrm>
            <a:off x="594360" y="1800000"/>
            <a:ext cx="5700000" cy="8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54864" rIns="137160" bIns="54864" rtlCol="0" anchor="ctr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Upload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Raw CSV file uploaded into Colab with files.upload().</a:t>
            </a:r>
          </a:p>
        </p:txBody>
      </p:sp>
      <p:sp>
        <p:nvSpPr>
          <p:cNvPr id="6" name="Number Badge"/>
          <p:cNvSpPr/>
          <p:nvPr/>
        </p:nvSpPr>
        <p:spPr>
          <a:xfrm>
            <a:off x="764360" y="1940000"/>
            <a:ext cx="520000" cy="52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Step 2"/>
          <p:cNvSpPr/>
          <p:nvPr/>
        </p:nvSpPr>
        <p:spPr>
          <a:xfrm>
            <a:off x="594360" y="2740000"/>
            <a:ext cx="5700000" cy="8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54864" rIns="137160" bIns="54864" rtlCol="0" anchor="ctr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Read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Loaded into a Pandas DataFrame using pd.read_csv().</a:t>
            </a:r>
          </a:p>
        </p:txBody>
      </p:sp>
      <p:sp>
        <p:nvSpPr>
          <p:cNvPr id="8" name="Number Badge"/>
          <p:cNvSpPr/>
          <p:nvPr/>
        </p:nvSpPr>
        <p:spPr>
          <a:xfrm>
            <a:off x="764360" y="2880000"/>
            <a:ext cx="520000" cy="52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Step 3"/>
          <p:cNvSpPr/>
          <p:nvPr/>
        </p:nvSpPr>
        <p:spPr>
          <a:xfrm>
            <a:off x="594360" y="3680000"/>
            <a:ext cx="5700000" cy="8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54864" rIns="137160" bIns="54864" rtlCol="0" anchor="ctr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Preview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df.head() checks the columns and sample records.</a:t>
            </a:r>
          </a:p>
        </p:txBody>
      </p:sp>
      <p:sp>
        <p:nvSpPr>
          <p:cNvPr id="10" name="Number Badge"/>
          <p:cNvSpPr/>
          <p:nvPr/>
        </p:nvSpPr>
        <p:spPr>
          <a:xfrm>
            <a:off x="764360" y="3820000"/>
            <a:ext cx="520000" cy="52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Step 4"/>
          <p:cNvSpPr/>
          <p:nvPr/>
        </p:nvSpPr>
        <p:spPr>
          <a:xfrm>
            <a:off x="594360" y="4620000"/>
            <a:ext cx="5700000" cy="80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54864" rIns="137160" bIns="54864" rtlCol="0" anchor="ctr"/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Measure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D2D2D"/>
                </a:solidFill>
                <a:latin typeface="Times New Roman"/>
              </a:rPr>
              <a:t>df.shape gives row and column counts; nulls and duplicates are counted.</a:t>
            </a:r>
          </a:p>
        </p:txBody>
      </p:sp>
      <p:sp>
        <p:nvSpPr>
          <p:cNvPr id="12" name="Number Badge"/>
          <p:cNvSpPr/>
          <p:nvPr/>
        </p:nvSpPr>
        <p:spPr>
          <a:xfrm>
            <a:off x="764360" y="4760000"/>
            <a:ext cx="520000" cy="520000"/>
          </a:xfrm>
          <a:prstGeom prst="ellipse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Code"/>
          <p:cNvSpPr/>
          <p:nvPr/>
        </p:nvSpPr>
        <p:spPr>
          <a:xfrm>
            <a:off x="6594360" y="1800000"/>
            <a:ext cx="5000000" cy="3620000"/>
          </a:xfrm>
          <a:prstGeom prst="roundRect">
            <a:avLst>
              <a:gd name="adj" fmla="val 3591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182880" bIns="109728" rtlCol="0" anchor="ctr"/>
          <a:lstStyle/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4E7A52"/>
                </a:solidFill>
                <a:latin typeface="Courier New"/>
              </a:rPr>
              <a:t># Load the raw dataset</a:t>
            </a: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1F3756"/>
                </a:solidFill>
                <a:latin typeface="Courier New"/>
              </a:rPr>
              <a:t>uploaded = </a:t>
            </a: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files.upload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()</a:t>
            </a:r>
          </a:p>
          <a:p>
            <a:pPr algn="l">
              <a:spcAft>
                <a:spcPts val="100"/>
              </a:spcAft>
            </a:pP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df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 = </a:t>
            </a: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pd.read_csv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(</a:t>
            </a: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1F3756"/>
                </a:solidFill>
                <a:latin typeface="Courier New"/>
              </a:rPr>
              <a:t>    "traffic_accidents_raw.csv")</a:t>
            </a: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1F3756"/>
                </a:solidFill>
                <a:latin typeface="Courier New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4E7A52"/>
                </a:solidFill>
                <a:latin typeface="Courier New"/>
              </a:rPr>
              <a:t># Inspect</a:t>
            </a:r>
          </a:p>
          <a:p>
            <a:pPr algn="l">
              <a:spcAft>
                <a:spcPts val="100"/>
              </a:spcAft>
            </a:pPr>
            <a:r>
              <a:rPr lang="en-IN" sz="1200" dirty="0">
                <a:solidFill>
                  <a:srgbClr val="1F3756"/>
                </a:solidFill>
                <a:latin typeface="Courier New"/>
              </a:rPr>
              <a:t>Print(</a:t>
            </a: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df.head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()</a:t>
            </a:r>
            <a:r>
              <a:rPr lang="en-IN" sz="1200" dirty="0">
                <a:solidFill>
                  <a:srgbClr val="1F3756"/>
                </a:solidFill>
                <a:latin typeface="Courier New"/>
              </a:rPr>
              <a:t>)</a:t>
            </a:r>
            <a:endParaRPr sz="1200" b="0" i="0" dirty="0">
              <a:solidFill>
                <a:srgbClr val="1F3756"/>
              </a:solidFill>
              <a:latin typeface="Courier New"/>
            </a:endParaRP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1F3756"/>
                </a:solidFill>
                <a:latin typeface="Courier New"/>
              </a:rPr>
              <a:t>print("Number of rows:", </a:t>
            </a: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df.shape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[0])</a:t>
            </a:r>
          </a:p>
          <a:p>
            <a:pPr algn="l">
              <a:spcAft>
                <a:spcPts val="100"/>
              </a:spcAft>
            </a:pPr>
            <a:r>
              <a:rPr sz="1200" b="0" i="0" dirty="0">
                <a:solidFill>
                  <a:srgbClr val="1F3756"/>
                </a:solidFill>
                <a:latin typeface="Courier New"/>
              </a:rPr>
              <a:t>print("Number of columns:", </a:t>
            </a:r>
            <a:r>
              <a:rPr sz="1200" b="0" i="0" dirty="0" err="1">
                <a:solidFill>
                  <a:srgbClr val="1F3756"/>
                </a:solidFill>
                <a:latin typeface="Courier New"/>
              </a:rPr>
              <a:t>df.shape</a:t>
            </a:r>
            <a:r>
              <a:rPr sz="1200" b="0" i="0" dirty="0">
                <a:solidFill>
                  <a:srgbClr val="1F3756"/>
                </a:solidFill>
                <a:latin typeface="Courier New"/>
              </a:rPr>
              <a:t>[1])</a:t>
            </a:r>
          </a:p>
        </p:txBody>
      </p:sp>
      <p:sp>
        <p:nvSpPr>
          <p:cNvPr id="14" name="Finding 1"/>
          <p:cNvSpPr/>
          <p:nvPr/>
        </p:nvSpPr>
        <p:spPr>
          <a:xfrm>
            <a:off x="594360" y="5620000"/>
            <a:ext cx="3533333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3756"/>
                </a:solidFill>
                <a:latin typeface="Times New Roman"/>
              </a:rPr>
              <a:t>3,024 × 12  </a:t>
            </a:r>
            <a:r>
              <a:rPr sz="1300" b="0" i="0">
                <a:solidFill>
                  <a:srgbClr val="2D2D2D"/>
                </a:solidFill>
                <a:latin typeface="Times New Roman"/>
              </a:rPr>
              <a:t>raw data shape</a:t>
            </a:r>
          </a:p>
        </p:txBody>
      </p:sp>
      <p:sp>
        <p:nvSpPr>
          <p:cNvPr id="15" name="Finding 2"/>
          <p:cNvSpPr/>
          <p:nvPr/>
        </p:nvSpPr>
        <p:spPr>
          <a:xfrm>
            <a:off x="4327693" y="5620000"/>
            <a:ext cx="3533333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3756"/>
                </a:solidFill>
                <a:latin typeface="Times New Roman"/>
              </a:rPr>
              <a:t>50  </a:t>
            </a:r>
            <a:r>
              <a:rPr sz="1300" b="0" i="0">
                <a:solidFill>
                  <a:srgbClr val="2D2D2D"/>
                </a:solidFill>
                <a:latin typeface="Times New Roman"/>
              </a:rPr>
              <a:t>missing values found</a:t>
            </a:r>
          </a:p>
        </p:txBody>
      </p:sp>
      <p:sp>
        <p:nvSpPr>
          <p:cNvPr id="16" name="Finding 3"/>
          <p:cNvSpPr/>
          <p:nvPr/>
        </p:nvSpPr>
        <p:spPr>
          <a:xfrm>
            <a:off x="8061026" y="5620000"/>
            <a:ext cx="3533333" cy="7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3756"/>
                </a:solidFill>
                <a:latin typeface="Times New Roman"/>
              </a:rPr>
              <a:t>24  </a:t>
            </a:r>
            <a:r>
              <a:rPr sz="1300" b="0" i="0">
                <a:solidFill>
                  <a:srgbClr val="2D2D2D"/>
                </a:solidFill>
                <a:latin typeface="Times New Roman"/>
              </a:rPr>
              <a:t>duplicate rows found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DATA CLEANING — HANDLING DUPLICATE RECORDS</a:t>
            </a:r>
          </a:p>
        </p:txBody>
      </p:sp>
      <p:sp>
        <p:nvSpPr>
          <p:cNvPr id="5" name="Flow 1"/>
          <p:cNvSpPr/>
          <p:nvPr/>
        </p:nvSpPr>
        <p:spPr>
          <a:xfrm>
            <a:off x="594360" y="1850000"/>
            <a:ext cx="3320000" cy="1150000"/>
          </a:xfrm>
          <a:prstGeom prst="roundRect">
            <a:avLst>
              <a:gd name="adj" fmla="val 11304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3756"/>
                </a:solidFill>
                <a:latin typeface="Times New Roman"/>
              </a:rPr>
              <a:t>3,024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rows before cleaning</a:t>
            </a:r>
          </a:p>
        </p:txBody>
      </p:sp>
      <p:sp>
        <p:nvSpPr>
          <p:cNvPr id="6" name="Arrow"/>
          <p:cNvSpPr/>
          <p:nvPr/>
        </p:nvSpPr>
        <p:spPr>
          <a:xfrm>
            <a:off x="4059360" y="2195000"/>
            <a:ext cx="230000" cy="460000"/>
          </a:xfrm>
          <a:prstGeom prst="chevron">
            <a:avLst/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 2"/>
          <p:cNvSpPr/>
          <p:nvPr/>
        </p:nvSpPr>
        <p:spPr>
          <a:xfrm>
            <a:off x="4434360" y="1850000"/>
            <a:ext cx="3320000" cy="1150000"/>
          </a:xfrm>
          <a:prstGeom prst="roundRect">
            <a:avLst>
              <a:gd name="adj" fmla="val 11304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3756"/>
                </a:solidFill>
                <a:latin typeface="Times New Roman"/>
              </a:rPr>
              <a:t>24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duplicate rows removed</a:t>
            </a:r>
          </a:p>
        </p:txBody>
      </p:sp>
      <p:sp>
        <p:nvSpPr>
          <p:cNvPr id="8" name="Arrow"/>
          <p:cNvSpPr/>
          <p:nvPr/>
        </p:nvSpPr>
        <p:spPr>
          <a:xfrm>
            <a:off x="7899360" y="2195000"/>
            <a:ext cx="230000" cy="460000"/>
          </a:xfrm>
          <a:prstGeom prst="chevron">
            <a:avLst/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low 3"/>
          <p:cNvSpPr/>
          <p:nvPr/>
        </p:nvSpPr>
        <p:spPr>
          <a:xfrm>
            <a:off x="8274360" y="1850000"/>
            <a:ext cx="3320000" cy="1150000"/>
          </a:xfrm>
          <a:prstGeom prst="roundRect">
            <a:avLst>
              <a:gd name="adj" fmla="val 11304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3756"/>
                </a:solidFill>
                <a:latin typeface="Times New Roman"/>
              </a:rPr>
              <a:t>3,000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rows after cleaning</a:t>
            </a:r>
          </a:p>
        </p:txBody>
      </p:sp>
      <p:sp>
        <p:nvSpPr>
          <p:cNvPr id="10" name="Method"/>
          <p:cNvSpPr/>
          <p:nvPr/>
        </p:nvSpPr>
        <p:spPr>
          <a:xfrm>
            <a:off x="594360" y="3300000"/>
            <a:ext cx="5350000" cy="1250000"/>
          </a:xfrm>
          <a:prstGeom prst="roundRect">
            <a:avLst>
              <a:gd name="adj" fmla="val 104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Method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Identical records were identified and dropped with drop_duplicates(), keeping the first occurrence of each.</a:t>
            </a:r>
          </a:p>
        </p:txBody>
      </p:sp>
      <p:sp>
        <p:nvSpPr>
          <p:cNvPr id="11" name="Why"/>
          <p:cNvSpPr/>
          <p:nvPr/>
        </p:nvSpPr>
        <p:spPr>
          <a:xfrm>
            <a:off x="6244360" y="3300000"/>
            <a:ext cx="5350000" cy="1250000"/>
          </a:xfrm>
          <a:prstGeom prst="roundRect">
            <a:avLst>
              <a:gd name="adj" fmla="val 104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756"/>
                </a:solidFill>
                <a:latin typeface="Times New Roman"/>
              </a:rPr>
              <a:t>Why it matters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Repeated records would double-count accidents and distort location frequencies and severity counts in the analysis.</a:t>
            </a:r>
          </a:p>
        </p:txBody>
      </p:sp>
      <p:sp>
        <p:nvSpPr>
          <p:cNvPr id="12" name="Code"/>
          <p:cNvSpPr/>
          <p:nvPr/>
        </p:nvSpPr>
        <p:spPr>
          <a:xfrm>
            <a:off x="594360" y="4800000"/>
            <a:ext cx="11000000" cy="950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182880" bIns="109728" rtlCol="0" anchor="ctr"/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E7A52"/>
                </a:solidFill>
                <a:latin typeface="Courier New"/>
              </a:rPr>
              <a:t># Remove duplicate rows and keep the result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3756"/>
                </a:solidFill>
                <a:latin typeface="Courier New"/>
              </a:rPr>
              <a:t>df = df.drop_duplicates()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DATA CLEANING — HANDLING MISSING VALUES</a:t>
            </a:r>
          </a:p>
        </p:txBody>
      </p:sp>
      <p:sp>
        <p:nvSpPr>
          <p:cNvPr id="5" name="Missing Summary"/>
          <p:cNvSpPr/>
          <p:nvPr/>
        </p:nvSpPr>
        <p:spPr>
          <a:xfrm>
            <a:off x="594360" y="1800000"/>
            <a:ext cx="110000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F3756"/>
                </a:solidFill>
                <a:latin typeface="Times New Roman"/>
              </a:rPr>
              <a:t>50 </a:t>
            </a:r>
            <a:r>
              <a:rPr sz="1500" b="0" i="0">
                <a:solidFill>
                  <a:srgbClr val="2D2D2D"/>
                </a:solidFill>
                <a:latin typeface="Times New Roman"/>
              </a:rPr>
              <a:t>missing values found in the raw data   →   </a:t>
            </a:r>
            <a:r>
              <a:rPr sz="2400" b="1" i="0">
                <a:solidFill>
                  <a:srgbClr val="1F3756"/>
                </a:solidFill>
                <a:latin typeface="Times New Roman"/>
              </a:rPr>
              <a:t>0 </a:t>
            </a:r>
            <a:r>
              <a:rPr sz="1500" b="0" i="0">
                <a:solidFill>
                  <a:srgbClr val="2D2D2D"/>
                </a:solidFill>
                <a:latin typeface="Times New Roman"/>
              </a:rPr>
              <a:t>remaining after filling</a:t>
            </a:r>
          </a:p>
        </p:txBody>
      </p:sp>
      <p:sp>
        <p:nvSpPr>
          <p:cNvPr id="6" name="Mode"/>
          <p:cNvSpPr/>
          <p:nvPr/>
        </p:nvSpPr>
        <p:spPr>
          <a:xfrm>
            <a:off x="594360" y="2750000"/>
            <a:ext cx="5350000" cy="1750000"/>
          </a:xfrm>
          <a:prstGeom prst="roundRect">
            <a:avLst>
              <a:gd name="adj" fmla="val 7428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Categorical columns → Mode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D2D2D"/>
                </a:solidFill>
                <a:latin typeface="Times New Roman"/>
              </a:rPr>
              <a:t>Light_Condition, Weather_Condition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Filled with the most frequent category, so no new label is introduced.</a:t>
            </a:r>
          </a:p>
        </p:txBody>
      </p:sp>
      <p:sp>
        <p:nvSpPr>
          <p:cNvPr id="7" name="Median"/>
          <p:cNvSpPr/>
          <p:nvPr/>
        </p:nvSpPr>
        <p:spPr>
          <a:xfrm>
            <a:off x="6244360" y="2750000"/>
            <a:ext cx="5350000" cy="1750000"/>
          </a:xfrm>
          <a:prstGeom prst="roundRect">
            <a:avLst>
              <a:gd name="adj" fmla="val 7428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Numeric columns → Median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D2D2D"/>
                </a:solidFill>
                <a:latin typeface="Times New Roman"/>
              </a:rPr>
              <a:t>Number_of_Casualties, Number_of_Fatalities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Median is not pulled by extreme values, so it is a safe fill for count data.</a:t>
            </a:r>
          </a:p>
        </p:txBody>
      </p:sp>
      <p:sp>
        <p:nvSpPr>
          <p:cNvPr id="8" name="Code"/>
          <p:cNvSpPr/>
          <p:nvPr/>
        </p:nvSpPr>
        <p:spPr>
          <a:xfrm>
            <a:off x="594360" y="4750000"/>
            <a:ext cx="11000000" cy="13000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182880" bIns="109728" rtlCol="0" anchor="ctr"/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E7A52"/>
                </a:solidFill>
                <a:latin typeface="Courier New"/>
              </a:rPr>
              <a:t># Fill missing values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3756"/>
                </a:solidFill>
                <a:latin typeface="Courier New"/>
              </a:rPr>
              <a:t>for col in ["Light_Condition", "Weather_Condition"]: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3756"/>
                </a:solidFill>
                <a:latin typeface="Courier New"/>
              </a:rPr>
              <a:t>    df[col] = df[col].fillna(df[col].mode()[0])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3756"/>
                </a:solidFill>
                <a:latin typeface="Courier New"/>
              </a:rPr>
              <a:t>for col in ["Number_of_Casualties", "Number_of_Fatalities"]: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F3756"/>
                </a:solidFill>
                <a:latin typeface="Courier New"/>
              </a:rPr>
              <a:t>    df[col] = df[col].fillna(df[col].median())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98669"/>
            <a:ext cx="88891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sz="2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SNAPSHOT — BEFORE &amp; AFTER CLEANING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206392"/>
              </p:ext>
            </p:extLst>
          </p:nvPr>
        </p:nvGraphicFramePr>
        <p:xfrm>
          <a:off x="640080" y="2210785"/>
          <a:ext cx="5486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>
                          <a:solidFill>
                            <a:srgbClr val="2D2D2D"/>
                          </a:solidFill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3024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3000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>
                          <a:solidFill>
                            <a:srgbClr val="2D2D2D"/>
                          </a:solidFill>
                        </a:rP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 dirty="0">
                          <a:solidFill>
                            <a:srgbClr val="2D2D2D"/>
                          </a:solidFill>
                        </a:rPr>
                        <a:t>1</a:t>
                      </a: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 dirty="0">
                          <a:solidFill>
                            <a:srgbClr val="2D2D2D"/>
                          </a:solidFill>
                        </a:rPr>
                        <a:t>1</a:t>
                      </a: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2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>
                          <a:solidFill>
                            <a:srgbClr val="2D2D2D"/>
                          </a:solidFill>
                        </a:rP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50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 dirty="0">
                          <a:solidFill>
                            <a:srgbClr val="2D2D2D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>
                          <a:solidFill>
                            <a:srgbClr val="2D2D2D"/>
                          </a:solidFill>
                        </a:rP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lang="en-IN" sz="1300" dirty="0">
                          <a:solidFill>
                            <a:srgbClr val="2D2D2D"/>
                          </a:solidFill>
                        </a:rPr>
                        <a:t>24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rPr sz="1300" dirty="0">
                          <a:solidFill>
                            <a:srgbClr val="2D2D2D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DD64E89F-49CA-A014-6EA3-EAE0C3F398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9996A4-0684-A89A-C1D8-FBC78D64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0884" y="1618285"/>
            <a:ext cx="5343616" cy="4672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08300"/>
            <a:ext cx="1048396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sz="2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— DATA PREPROCESSING WITH EVIDENCE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888" b="-1"/>
          <a:stretch>
            <a:fillRect/>
          </a:stretch>
        </p:blipFill>
        <p:spPr>
          <a:xfrm>
            <a:off x="594360" y="1906744"/>
            <a:ext cx="6400800" cy="37878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69480" y="2014140"/>
            <a:ext cx="41605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34072" y="2142155"/>
            <a:ext cx="38313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— Duplicates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lang="en-IN" sz="12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duplicate accident records detected and removed.</a:t>
            </a:r>
            <a:endParaRPr sz="125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69480" y="3157140"/>
            <a:ext cx="41605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34072" y="3285156"/>
            <a:ext cx="38313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— Missing Values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sz="12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50 missing values: </a:t>
            </a:r>
            <a:endParaRPr lang="en-IN" sz="1250" dirty="0">
              <a:solidFill>
                <a:srgbClr val="2D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sz="12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→ mode, numeric → median.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4300140"/>
            <a:ext cx="41605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34072" y="4428156"/>
            <a:ext cx="383133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— Final Check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sz="12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Re-checked null count and duplicate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5443140"/>
            <a:ext cx="4160520" cy="82296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4072" y="5571156"/>
            <a:ext cx="383133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lang="en-IN" sz="125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 ready for further analysis.</a:t>
            </a: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77268E3B-BE5D-C03B-255E-00857DA182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Log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49" y="204310"/>
            <a:ext cx="1488889" cy="59435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94360" y="988635"/>
            <a:ext cx="110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756"/>
                </a:solidFill>
                <a:latin typeface="Times New Roman"/>
              </a:rPr>
              <a:t>DATA PREPROCESSING — TRANSFORMATION TECHNIQUES</a:t>
            </a:r>
          </a:p>
        </p:txBody>
      </p:sp>
      <p:sp>
        <p:nvSpPr>
          <p:cNvPr id="5" name="Technique Feature Scaling"/>
          <p:cNvSpPr/>
          <p:nvPr/>
        </p:nvSpPr>
        <p:spPr>
          <a:xfrm>
            <a:off x="594360" y="1800000"/>
            <a:ext cx="5350000" cy="1550000"/>
          </a:xfrm>
          <a:prstGeom prst="roundRect">
            <a:avLst>
              <a:gd name="adj" fmla="val 838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300"/>
              </a:spcAft>
            </a:pPr>
            <a:r>
              <a:rPr sz="1700" b="1" i="0" dirty="0">
                <a:solidFill>
                  <a:srgbClr val="1F3756"/>
                </a:solidFill>
                <a:latin typeface="Times New Roman"/>
              </a:rPr>
              <a:t>Feature Scaling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 dirty="0">
                <a:solidFill>
                  <a:srgbClr val="2D2D2D"/>
                </a:solidFill>
                <a:latin typeface="Times New Roman"/>
              </a:rPr>
              <a:t>Rescales numeric values to a common range so that no feature dominates because of its unit or size.</a:t>
            </a:r>
          </a:p>
          <a:p>
            <a:r>
              <a:rPr sz="1300" b="1" i="0" dirty="0">
                <a:solidFill>
                  <a:srgbClr val="1F3756"/>
                </a:solidFill>
                <a:latin typeface="Times New Roman"/>
              </a:rPr>
              <a:t>Suited for: </a:t>
            </a:r>
            <a:r>
              <a:rPr sz="1300" b="0" i="0" dirty="0" err="1">
                <a:solidFill>
                  <a:srgbClr val="2D2D2D"/>
                </a:solidFill>
                <a:latin typeface="Times New Roman"/>
              </a:rPr>
              <a:t>Speed_Limi</a:t>
            </a:r>
            <a:r>
              <a:rPr sz="1400" dirty="0" err="1">
                <a:solidFill>
                  <a:srgbClr val="2D2D2D"/>
                </a:solidFill>
                <a:latin typeface="Times New Roman"/>
              </a:rPr>
              <a:t>t</a:t>
            </a:r>
            <a:r>
              <a:rPr lang="en-IN" sz="1400" dirty="0">
                <a:solidFill>
                  <a:srgbClr val="2D2D2D"/>
                </a:solidFill>
                <a:latin typeface="Times New Roman"/>
              </a:rPr>
              <a:t> (km/h)</a:t>
            </a:r>
            <a:endParaRPr sz="1400" dirty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6" name="Technique Standardization"/>
          <p:cNvSpPr/>
          <p:nvPr/>
        </p:nvSpPr>
        <p:spPr>
          <a:xfrm>
            <a:off x="6244360" y="1800000"/>
            <a:ext cx="5350000" cy="1550000"/>
          </a:xfrm>
          <a:prstGeom prst="roundRect">
            <a:avLst>
              <a:gd name="adj" fmla="val 838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300"/>
              </a:spcAft>
            </a:pPr>
            <a:r>
              <a:rPr sz="1700" b="1" i="0" dirty="0">
                <a:solidFill>
                  <a:srgbClr val="1F3756"/>
                </a:solidFill>
                <a:latin typeface="Times New Roman"/>
              </a:rPr>
              <a:t>Standardization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 dirty="0">
                <a:solidFill>
                  <a:srgbClr val="2D2D2D"/>
                </a:solidFill>
                <a:latin typeface="Times New Roman"/>
              </a:rPr>
              <a:t>Transforms values to mean 0 and standard deviation 1 (z-score) for comparable spread.</a:t>
            </a: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F3756"/>
                </a:solidFill>
                <a:latin typeface="Times New Roman"/>
              </a:rPr>
              <a:t>Suited for: </a:t>
            </a:r>
            <a:r>
              <a:rPr sz="1300" b="0" i="0" dirty="0" err="1">
                <a:solidFill>
                  <a:srgbClr val="2D2D2D"/>
                </a:solidFill>
                <a:latin typeface="Times New Roman"/>
              </a:rPr>
              <a:t>Number_of_Casualties</a:t>
            </a:r>
            <a:r>
              <a:rPr sz="1300" b="0" i="0" dirty="0">
                <a:solidFill>
                  <a:srgbClr val="2D2D2D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2D2D2D"/>
                </a:solidFill>
                <a:latin typeface="Times New Roman"/>
              </a:rPr>
              <a:t>Number_of_Fatalities</a:t>
            </a:r>
            <a:endParaRPr sz="1300" b="0" i="0" dirty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7" name="Technique Label Encoding"/>
          <p:cNvSpPr/>
          <p:nvPr/>
        </p:nvSpPr>
        <p:spPr>
          <a:xfrm>
            <a:off x="594360" y="3570000"/>
            <a:ext cx="5350000" cy="1550000"/>
          </a:xfrm>
          <a:prstGeom prst="roundRect">
            <a:avLst>
              <a:gd name="adj" fmla="val 838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F3756"/>
                </a:solidFill>
                <a:latin typeface="Times New Roman"/>
              </a:rPr>
              <a:t>Label Encoding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2D2D2D"/>
                </a:solidFill>
                <a:latin typeface="Times New Roman"/>
              </a:rPr>
              <a:t>Converts ordered categories into integer codes.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756"/>
                </a:solidFill>
                <a:latin typeface="Times New Roman"/>
              </a:rPr>
              <a:t>Suited for: </a:t>
            </a:r>
            <a:r>
              <a:rPr sz="1300" b="0" i="0">
                <a:solidFill>
                  <a:srgbClr val="2D2D2D"/>
                </a:solidFill>
                <a:latin typeface="Times New Roman"/>
              </a:rPr>
              <a:t>Accident_Severity (Minor / Serious / Fatal)</a:t>
            </a:r>
          </a:p>
        </p:txBody>
      </p:sp>
      <p:sp>
        <p:nvSpPr>
          <p:cNvPr id="8" name="Technique One-Hot Encoding"/>
          <p:cNvSpPr/>
          <p:nvPr/>
        </p:nvSpPr>
        <p:spPr>
          <a:xfrm>
            <a:off x="6244360" y="3570000"/>
            <a:ext cx="5350000" cy="1550000"/>
          </a:xfrm>
          <a:prstGeom prst="roundRect">
            <a:avLst>
              <a:gd name="adj" fmla="val 8387"/>
            </a:avLst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spcAft>
                <a:spcPts val="300"/>
              </a:spcAft>
            </a:pPr>
            <a:r>
              <a:rPr sz="1700" b="1" i="0" dirty="0">
                <a:solidFill>
                  <a:srgbClr val="1F3756"/>
                </a:solidFill>
                <a:latin typeface="Times New Roman"/>
              </a:rPr>
              <a:t>One-Hot Encoding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 dirty="0">
                <a:solidFill>
                  <a:srgbClr val="2D2D2D"/>
                </a:solidFill>
                <a:latin typeface="Times New Roman"/>
              </a:rPr>
              <a:t>Creates one binary column per category, so unordered categories get no false ranking.</a:t>
            </a: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F3756"/>
                </a:solidFill>
                <a:latin typeface="Times New Roman"/>
              </a:rPr>
              <a:t>Suited for: </a:t>
            </a:r>
            <a:r>
              <a:rPr sz="1300" b="0" i="0" dirty="0" err="1">
                <a:solidFill>
                  <a:srgbClr val="2D2D2D"/>
                </a:solidFill>
                <a:latin typeface="Times New Roman"/>
              </a:rPr>
              <a:t>Vehicle_Type</a:t>
            </a:r>
            <a:endParaRPr sz="1300" b="0" i="0" dirty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9" name="Pipeline 1"/>
          <p:cNvSpPr/>
          <p:nvPr/>
        </p:nvSpPr>
        <p:spPr>
          <a:xfrm>
            <a:off x="594360" y="5380000"/>
            <a:ext cx="2450000" cy="6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F3756"/>
                </a:solidFill>
                <a:latin typeface="Times New Roman"/>
              </a:rPr>
              <a:t>Cleaned data</a:t>
            </a:r>
          </a:p>
        </p:txBody>
      </p:sp>
      <p:sp>
        <p:nvSpPr>
          <p:cNvPr id="10" name="Arrow"/>
          <p:cNvSpPr/>
          <p:nvPr/>
        </p:nvSpPr>
        <p:spPr>
          <a:xfrm>
            <a:off x="3144360" y="5510000"/>
            <a:ext cx="200000" cy="380000"/>
          </a:xfrm>
          <a:prstGeom prst="chevron">
            <a:avLst/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peline 2"/>
          <p:cNvSpPr/>
          <p:nvPr/>
        </p:nvSpPr>
        <p:spPr>
          <a:xfrm>
            <a:off x="3444360" y="5380000"/>
            <a:ext cx="2450000" cy="6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F3756"/>
                </a:solidFill>
                <a:latin typeface="Times New Roman"/>
              </a:rPr>
              <a:t>Scale / standardize numeric</a:t>
            </a:r>
          </a:p>
        </p:txBody>
      </p:sp>
      <p:sp>
        <p:nvSpPr>
          <p:cNvPr id="12" name="Arrow"/>
          <p:cNvSpPr/>
          <p:nvPr/>
        </p:nvSpPr>
        <p:spPr>
          <a:xfrm>
            <a:off x="5994360" y="5510000"/>
            <a:ext cx="200000" cy="380000"/>
          </a:xfrm>
          <a:prstGeom prst="chevron">
            <a:avLst/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peline 3"/>
          <p:cNvSpPr/>
          <p:nvPr/>
        </p:nvSpPr>
        <p:spPr>
          <a:xfrm>
            <a:off x="6294360" y="5380000"/>
            <a:ext cx="2450000" cy="6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F3756"/>
                </a:solidFill>
                <a:latin typeface="Times New Roman"/>
              </a:rPr>
              <a:t>Encode categorical</a:t>
            </a:r>
          </a:p>
        </p:txBody>
      </p:sp>
      <p:sp>
        <p:nvSpPr>
          <p:cNvPr id="14" name="Arrow"/>
          <p:cNvSpPr/>
          <p:nvPr/>
        </p:nvSpPr>
        <p:spPr>
          <a:xfrm>
            <a:off x="8844360" y="5510000"/>
            <a:ext cx="200000" cy="380000"/>
          </a:xfrm>
          <a:prstGeom prst="chevron">
            <a:avLst/>
          </a:prstGeom>
          <a:solidFill>
            <a:srgbClr val="3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ipeline 4"/>
          <p:cNvSpPr/>
          <p:nvPr/>
        </p:nvSpPr>
        <p:spPr>
          <a:xfrm>
            <a:off x="9144360" y="5380000"/>
            <a:ext cx="2450000" cy="6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F3756"/>
                </a:solidFill>
                <a:latin typeface="Times New Roman"/>
              </a:rPr>
              <a:t>Analysis-ready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3446" y="868589"/>
            <a:ext cx="600997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sz="2600" b="1" dirty="0">
                <a:solidFill>
                  <a:srgbClr val="1F375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COMPLETED 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9965" y="1720407"/>
            <a:ext cx="1856232" cy="110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4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</a:p>
        </p:txBody>
      </p:sp>
      <p:sp>
        <p:nvSpPr>
          <p:cNvPr id="5" name="Chevron 4"/>
          <p:cNvSpPr/>
          <p:nvPr/>
        </p:nvSpPr>
        <p:spPr>
          <a:xfrm>
            <a:off x="3799913" y="2087527"/>
            <a:ext cx="64008" cy="365760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77637" y="1720407"/>
            <a:ext cx="1856232" cy="110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4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Inspection</a:t>
            </a:r>
          </a:p>
        </p:txBody>
      </p:sp>
      <p:sp>
        <p:nvSpPr>
          <p:cNvPr id="7" name="Chevron 6"/>
          <p:cNvSpPr/>
          <p:nvPr/>
        </p:nvSpPr>
        <p:spPr>
          <a:xfrm>
            <a:off x="5747585" y="2087527"/>
            <a:ext cx="64008" cy="365760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25309" y="1720407"/>
            <a:ext cx="1856232" cy="110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4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</p:txBody>
      </p:sp>
      <p:sp>
        <p:nvSpPr>
          <p:cNvPr id="9" name="Chevron 8"/>
          <p:cNvSpPr/>
          <p:nvPr/>
        </p:nvSpPr>
        <p:spPr>
          <a:xfrm>
            <a:off x="7695257" y="2087527"/>
            <a:ext cx="64008" cy="365760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981" y="1720407"/>
            <a:ext cx="1856232" cy="110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4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9642929" y="2087527"/>
            <a:ext cx="64008" cy="365760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50000"/>
            <a:ext cx="1024128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stage is backed by working code and its output in the notebook.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lang="en-IN"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review covers the stages from the raw dataset to preprocessing</a:t>
            </a:r>
            <a:r>
              <a:rPr sz="16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EA39A1F5-0C08-F3D7-C5D4-DBFF75188F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0"/>
            <a:ext cx="1361070" cy="499189"/>
          </a:xfrm>
          <a:prstGeom prst="rect">
            <a:avLst/>
          </a:prstGeom>
        </p:spPr>
      </p:pic>
      <p:sp>
        <p:nvSpPr>
          <p:cNvPr id="24" name="Band Preprocessing"/>
          <p:cNvSpPr/>
          <p:nvPr/>
        </p:nvSpPr>
        <p:spPr>
          <a:xfrm>
            <a:off x="423237" y="3887311"/>
            <a:ext cx="5751576" cy="56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25" name="Band Analysis"/>
          <p:cNvSpPr/>
          <p:nvPr/>
        </p:nvSpPr>
        <p:spPr>
          <a:xfrm>
            <a:off x="6311900" y="3907007"/>
            <a:ext cx="5660209" cy="56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6" name="Band Implementation"/>
          <p:cNvSpPr/>
          <p:nvPr/>
        </p:nvSpPr>
        <p:spPr>
          <a:xfrm>
            <a:off x="377517" y="3040147"/>
            <a:ext cx="11594592" cy="56000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— Google Colab notebook (Python • Pandas • NumPy)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5998C-7176-9795-910A-8FEBC018663B}"/>
              </a:ext>
            </a:extLst>
          </p:cNvPr>
          <p:cNvSpPr txBox="1"/>
          <p:nvPr/>
        </p:nvSpPr>
        <p:spPr>
          <a:xfrm>
            <a:off x="1778000" y="16840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41152"/>
            <a:ext cx="58080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756"/>
                </a:solidFill>
              </a:defRPr>
            </a:pPr>
            <a:r>
              <a:rPr sz="26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— 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304"/>
            <a:ext cx="10607040" cy="222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Traffic Accident Data Analysis project has been successfully implemented in Google </a:t>
            </a:r>
            <a:r>
              <a:rPr lang="en-IN" dirty="0" err="1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b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dataset was inspected and cleaned by handling duplicate and missing values.</a:t>
            </a:r>
            <a:b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preprocessing was completed using feature scaling, standardization, label encoding and one-hot encoding.</a:t>
            </a:r>
            <a:b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final dataset is ready for further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651820" y="4507008"/>
            <a:ext cx="8138160" cy="7315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44980" y="4507008"/>
            <a:ext cx="7808976" cy="65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3756"/>
                </a:solidFill>
              </a:defRPr>
            </a:pPr>
            <a:r>
              <a:rPr sz="1500" b="1" dirty="0">
                <a:solidFill>
                  <a:srgbClr val="1F37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message</a:t>
            </a:r>
          </a:p>
          <a:p>
            <a:pPr>
              <a:lnSpc>
                <a:spcPct val="200000"/>
              </a:lnSpc>
              <a:defRPr sz="1250">
                <a:solidFill>
                  <a:srgbClr val="2D2D2D"/>
                </a:solidFill>
              </a:defRPr>
            </a:pPr>
            <a:r>
              <a:rPr lang="en-IN" dirty="0">
                <a:solidFill>
                  <a:srgbClr val="2D2D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inspection, cleaning and preprocessing are complete on the dataset.”</a:t>
            </a:r>
            <a:endParaRPr dirty="0">
              <a:solidFill>
                <a:srgbClr val="2D2D2D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5340D3B1-A129-AAB3-4A8C-C03BB38961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0"/>
            <a:ext cx="1361070" cy="4991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2468880"/>
            <a:ext cx="758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3756"/>
                </a:solidFill>
              </a:defRPr>
            </a:pPr>
            <a:r>
              <a:rPr sz="4000" b="1">
                <a:solidFill>
                  <a:srgbClr val="1F3756"/>
                </a:solidFill>
              </a:rPr>
              <a:t>THANK YOU</a:t>
            </a:r>
          </a:p>
          <a:p>
            <a:pPr algn="ctr">
              <a:defRPr sz="2200">
                <a:solidFill>
                  <a:srgbClr val="4472C4"/>
                </a:solidFill>
              </a:defRPr>
            </a:pPr>
            <a:r>
              <a:rPr sz="2200">
                <a:solidFill>
                  <a:srgbClr val="4472C4"/>
                </a:solidFill>
              </a:rPr>
              <a:t>Questions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1159</Words>
  <Application>Microsoft Office PowerPoint</Application>
  <PresentationFormat>Widescreen</PresentationFormat>
  <Paragraphs>221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M.MUNIKIRAN</dc:creator>
  <cp:keywords/>
  <dc:description>generated using python-pptx</dc:description>
  <cp:lastModifiedBy>Muni Kiran</cp:lastModifiedBy>
  <cp:revision>8</cp:revision>
  <dcterms:created xsi:type="dcterms:W3CDTF">2013-01-27T09:14:16Z</dcterms:created>
  <dcterms:modified xsi:type="dcterms:W3CDTF">2026-09-20T13:49:12Z</dcterms:modified>
  <cp:category/>
</cp:coreProperties>
</file>