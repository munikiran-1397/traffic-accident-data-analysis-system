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2" r:id="rId14"/>
    <p:sldId id="268" r:id="rId15"/>
    <p:sldId id="269"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9353D-FEFE-4AEF-8361-AE1C5A925F04}" v="6" dt="2026-09-14T16:43:32.94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15" autoAdjust="0"/>
    <p:restoredTop sz="94660"/>
  </p:normalViewPr>
  <p:slideViewPr>
    <p:cSldViewPr>
      <p:cViewPr varScale="1">
        <p:scale>
          <a:sx n="30" d="100"/>
          <a:sy n="30" d="100"/>
        </p:scale>
        <p:origin x="1568" y="1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 Kiran" userId="3dc8e06581886eeb" providerId="LiveId" clId="{6481158B-392E-484F-9FF7-8F98622555B6}"/>
    <pc:docChg chg="undo custSel modSld">
      <pc:chgData name="Muni Kiran" userId="3dc8e06581886eeb" providerId="LiveId" clId="{6481158B-392E-484F-9FF7-8F98622555B6}" dt="2026-09-15T13:55:14.433" v="452" actId="20577"/>
      <pc:docMkLst>
        <pc:docMk/>
      </pc:docMkLst>
      <pc:sldChg chg="modSp mod">
        <pc:chgData name="Muni Kiran" userId="3dc8e06581886eeb" providerId="LiveId" clId="{6481158B-392E-484F-9FF7-8F98622555B6}" dt="2026-09-14T16:40:52.963" v="427" actId="20577"/>
        <pc:sldMkLst>
          <pc:docMk/>
          <pc:sldMk cId="86789223" sldId="259"/>
        </pc:sldMkLst>
        <pc:spChg chg="mod">
          <ac:chgData name="Muni Kiran" userId="3dc8e06581886eeb" providerId="LiveId" clId="{6481158B-392E-484F-9FF7-8F98622555B6}" dt="2026-09-14T16:40:52.963" v="427" actId="20577"/>
          <ac:spMkLst>
            <pc:docMk/>
            <pc:sldMk cId="86789223" sldId="259"/>
            <ac:spMk id="2" creationId="{25851B59-AD5A-81AD-7D42-C1CD5E589B58}"/>
          </ac:spMkLst>
        </pc:spChg>
      </pc:sldChg>
      <pc:sldChg chg="modSp mod">
        <pc:chgData name="Muni Kiran" userId="3dc8e06581886eeb" providerId="LiveId" clId="{6481158B-392E-484F-9FF7-8F98622555B6}" dt="2026-09-15T13:55:14.433" v="452" actId="20577"/>
        <pc:sldMkLst>
          <pc:docMk/>
          <pc:sldMk cId="314495878" sldId="271"/>
        </pc:sldMkLst>
        <pc:spChg chg="mod">
          <ac:chgData name="Muni Kiran" userId="3dc8e06581886eeb" providerId="LiveId" clId="{6481158B-392E-484F-9FF7-8F98622555B6}" dt="2026-09-15T13:55:14.433" v="452" actId="20577"/>
          <ac:spMkLst>
            <pc:docMk/>
            <pc:sldMk cId="314495878" sldId="271"/>
            <ac:spMk id="12" creationId="{2E698EF3-6CC5-CB2B-B3DF-1F2230442C23}"/>
          </ac:spMkLst>
        </pc:spChg>
      </pc:sldChg>
      <pc:sldChg chg="modSp mod">
        <pc:chgData name="Muni Kiran" userId="3dc8e06581886eeb" providerId="LiveId" clId="{6481158B-392E-484F-9FF7-8F98622555B6}" dt="2026-09-14T16:44:16.744" v="449" actId="20577"/>
        <pc:sldMkLst>
          <pc:docMk/>
          <pc:sldMk cId="3510378788" sldId="280"/>
        </pc:sldMkLst>
        <pc:graphicFrameChg chg="mod modGraphic">
          <ac:chgData name="Muni Kiran" userId="3dc8e06581886eeb" providerId="LiveId" clId="{6481158B-392E-484F-9FF7-8F98622555B6}" dt="2026-09-14T16:44:16.744" v="449" actId="20577"/>
          <ac:graphicFrameMkLst>
            <pc:docMk/>
            <pc:sldMk cId="3510378788" sldId="280"/>
            <ac:graphicFrameMk id="2" creationId="{DEA1E91E-EF4D-C73B-A7C1-DB20552B5A1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15-09-2026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9/15/2026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First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338367"/>
          </a:xfrm>
          <a:prstGeom prst="rect">
            <a:avLst/>
          </a:prstGeom>
        </p:spPr>
        <p:txBody>
          <a:bodyPr vert="horz" wrap="square" lIns="0" tIns="16510" rIns="0" bIns="0" rtlCol="0">
            <a:spAutoFit/>
          </a:bodyPr>
          <a:lstStyle/>
          <a:p>
            <a:pPr algn="ctr">
              <a:lnSpc>
                <a:spcPct val="100000"/>
              </a:lnSpc>
              <a:spcBef>
                <a:spcPts val="130"/>
              </a:spcBef>
            </a:pPr>
            <a:r>
              <a:rPr lang="en-IN" sz="3200" dirty="0"/>
              <a:t>Traffic Accident Data Analysis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1800" spc="-10" dirty="0">
                <a:latin typeface="Times New Roman" panose="02020603050405020304" pitchFamily="18" charset="0"/>
                <a:cs typeface="Times New Roman" panose="02020603050405020304" pitchFamily="18" charset="0"/>
              </a:rPr>
              <a:t>S.KIRAN PRABHU ( 25B11AIB29 )</a:t>
            </a:r>
          </a:p>
          <a:p>
            <a:pPr marL="3810" algn="ctr">
              <a:lnSpc>
                <a:spcPct val="100000"/>
              </a:lnSpc>
              <a:spcBef>
                <a:spcPts val="750"/>
              </a:spcBef>
            </a:pPr>
            <a:r>
              <a:rPr lang="en-IN" sz="1800" spc="-10" dirty="0">
                <a:latin typeface="Times New Roman" panose="02020603050405020304" pitchFamily="18" charset="0"/>
                <a:cs typeface="Times New Roman" panose="02020603050405020304" pitchFamily="18" charset="0"/>
              </a:rPr>
              <a:t>V.GANESH ( 25B11AIC58 )</a:t>
            </a:r>
          </a:p>
          <a:p>
            <a:pPr marL="3810" algn="ctr">
              <a:lnSpc>
                <a:spcPct val="100000"/>
              </a:lnSpc>
              <a:spcBef>
                <a:spcPts val="750"/>
              </a:spcBef>
            </a:pPr>
            <a:r>
              <a:rPr lang="en-IN" sz="1800" spc="-10" dirty="0">
                <a:latin typeface="Times New Roman" panose="02020603050405020304" pitchFamily="18" charset="0"/>
                <a:cs typeface="Times New Roman" panose="02020603050405020304" pitchFamily="18" charset="0"/>
              </a:rPr>
              <a:t>M.MUNI KIRAN ( 25B11AI646 )</a:t>
            </a:r>
          </a:p>
          <a:p>
            <a:pPr marL="3810" algn="ctr">
              <a:lnSpc>
                <a:spcPct val="100000"/>
              </a:lnSpc>
              <a:spcBef>
                <a:spcPts val="750"/>
              </a:spcBef>
            </a:pPr>
            <a:r>
              <a:rPr lang="en-IN" sz="1800" spc="-10" dirty="0">
                <a:latin typeface="Times New Roman" panose="02020603050405020304" pitchFamily="18" charset="0"/>
                <a:cs typeface="Times New Roman" panose="02020603050405020304" pitchFamily="18" charset="0"/>
              </a:rPr>
              <a:t>T.SAI MANISH ( 25B11AIB78 )</a:t>
            </a:r>
          </a:p>
          <a:p>
            <a:pPr marL="1270" algn="ctr">
              <a:lnSpc>
                <a:spcPct val="100000"/>
              </a:lnSpc>
              <a:spcBef>
                <a:spcPts val="994"/>
              </a:spcBef>
            </a:pPr>
            <a:r>
              <a:rPr sz="3200" dirty="0">
                <a:solidFill>
                  <a:srgbClr val="943735"/>
                </a:solidFill>
                <a:latin typeface="Times New Roman" panose="02020603050405020304" pitchFamily="18" charset="0"/>
                <a:cs typeface="Times New Roman" panose="02020603050405020304" pitchFamily="18" charset="0"/>
              </a:rPr>
              <a:t>Department</a:t>
            </a:r>
            <a:r>
              <a:rPr sz="3200" spc="-60" dirty="0">
                <a:solidFill>
                  <a:srgbClr val="943735"/>
                </a:solidFill>
                <a:latin typeface="Times New Roman" panose="02020603050405020304" pitchFamily="18" charset="0"/>
                <a:cs typeface="Times New Roman" panose="02020603050405020304" pitchFamily="18" charset="0"/>
              </a:rPr>
              <a:t> </a:t>
            </a:r>
            <a:r>
              <a:rPr sz="3200" dirty="0">
                <a:solidFill>
                  <a:srgbClr val="943735"/>
                </a:solidFill>
                <a:latin typeface="Times New Roman" panose="02020603050405020304" pitchFamily="18" charset="0"/>
                <a:cs typeface="Times New Roman" panose="02020603050405020304" pitchFamily="18" charset="0"/>
              </a:rPr>
              <a:t>o</a:t>
            </a:r>
            <a:r>
              <a:rPr lang="en-US" sz="3200" dirty="0">
                <a:solidFill>
                  <a:srgbClr val="943735"/>
                </a:solidFill>
                <a:latin typeface="Times New Roman" panose="02020603050405020304" pitchFamily="18" charset="0"/>
                <a:cs typeface="Times New Roman" panose="02020603050405020304" pitchFamily="18" charset="0"/>
              </a:rPr>
              <a:t>f </a:t>
            </a:r>
            <a:r>
              <a:rPr lang="en-IN" sz="3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3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953500" cy="5262979"/>
          </a:xfrm>
          <a:prstGeom prst="rect">
            <a:avLst/>
          </a:prstGeom>
          <a:noFill/>
        </p:spPr>
        <p:txBody>
          <a:bodyPr wrap="square" rtlCol="0">
            <a:spAutoFit/>
          </a:bodyPr>
          <a:lstStyle/>
          <a:p>
            <a:pPr algn="just"/>
            <a:r>
              <a:rPr lang="en-IN" sz="2800" dirty="0">
                <a:latin typeface="Times New Roman" panose="02020603050405020304" pitchFamily="18" charset="0"/>
                <a:cs typeface="Times New Roman" panose="02020603050405020304" pitchFamily="18" charset="0"/>
              </a:rPr>
              <a:t>The Traffic Accident Data Analysis System is a Python-based data analytics project that helps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traffic accident records and understand the factors affecting accident severity and frequency.</a:t>
            </a:r>
          </a:p>
          <a:p>
            <a:pPr algn="just"/>
            <a:r>
              <a:rPr lang="en-IN" sz="2800" dirty="0">
                <a:latin typeface="Times New Roman" panose="02020603050405020304" pitchFamily="18" charset="0"/>
                <a:cs typeface="Times New Roman" panose="02020603050405020304" pitchFamily="18" charset="0"/>
              </a:rPr>
              <a:t>The project uses the Pandas library to load and process accident datasets, performs data preprocessing to clean missing records, analyzes accident locations, severity levels, and monthly trends, and visualizes patterns using bar graphs, line charts, and pie charts.</a:t>
            </a:r>
          </a:p>
          <a:p>
            <a:pPr algn="just"/>
            <a:r>
              <a:rPr lang="en-IN" sz="2800" dirty="0">
                <a:latin typeface="Times New Roman" panose="02020603050405020304" pitchFamily="18" charset="0"/>
                <a:cs typeface="Times New Roman" panose="02020603050405020304" pitchFamily="18" charset="0"/>
              </a:rPr>
              <a:t>The project improves data understanding and demonstrates the complete data analysis workflow used for road safety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786969"/>
          </a:xfrm>
          <a:prstGeom prst="rect">
            <a:avLst/>
          </a:prstGeom>
          <a:noFill/>
        </p:spPr>
        <p:txBody>
          <a:bodyPr wrap="square" rtlCol="0">
            <a:spAutoFit/>
          </a:bodyPr>
          <a:lstStyle/>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Traffic authorities record thousands of accident reports every year.</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Before improving road safety, they need to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accident details such as</a:t>
            </a:r>
          </a:p>
          <a:p>
            <a:pPr lvl="8"/>
            <a:r>
              <a:rPr lang="en-IN" sz="2200" dirty="0">
                <a:latin typeface="Times New Roman" panose="02020603050405020304" pitchFamily="18" charset="0"/>
                <a:cs typeface="Times New Roman" panose="02020603050405020304" pitchFamily="18" charset="0"/>
              </a:rPr>
              <a:t>	Location </a:t>
            </a:r>
          </a:p>
          <a:p>
            <a:pPr lvl="3"/>
            <a:r>
              <a:rPr lang="en-IN" sz="2200" dirty="0">
                <a:latin typeface="Times New Roman" panose="02020603050405020304" pitchFamily="18" charset="0"/>
                <a:cs typeface="Times New Roman" panose="02020603050405020304" pitchFamily="18" charset="0"/>
              </a:rPr>
              <a:t>	Severity </a:t>
            </a:r>
          </a:p>
          <a:p>
            <a:pPr lvl="3"/>
            <a:r>
              <a:rPr lang="en-IN" sz="2200" dirty="0">
                <a:latin typeface="Times New Roman" panose="02020603050405020304" pitchFamily="18" charset="0"/>
                <a:cs typeface="Times New Roman" panose="02020603050405020304" pitchFamily="18" charset="0"/>
              </a:rPr>
              <a:t>	Month/Year and Time</a:t>
            </a:r>
          </a:p>
          <a:p>
            <a:pPr lvl="3"/>
            <a:r>
              <a:rPr lang="en-IN" sz="2200" dirty="0">
                <a:latin typeface="Times New Roman" panose="02020603050405020304" pitchFamily="18" charset="0"/>
                <a:cs typeface="Times New Roman" panose="02020603050405020304" pitchFamily="18" charset="0"/>
              </a:rPr>
              <a:t>	Vehicle Type </a:t>
            </a:r>
          </a:p>
          <a:p>
            <a:pPr lvl="3"/>
            <a:r>
              <a:rPr lang="en-IN" sz="2200" dirty="0">
                <a:latin typeface="Times New Roman" panose="02020603050405020304" pitchFamily="18" charset="0"/>
                <a:cs typeface="Times New Roman" panose="02020603050405020304" pitchFamily="18" charset="0"/>
              </a:rPr>
              <a:t>	Weather Condition </a:t>
            </a:r>
          </a:p>
          <a:p>
            <a:pPr lvl="3"/>
            <a:r>
              <a:rPr lang="en-IN" sz="2200" dirty="0">
                <a:latin typeface="Times New Roman" panose="02020603050405020304" pitchFamily="18" charset="0"/>
                <a:cs typeface="Times New Roman" panose="02020603050405020304" pitchFamily="18" charset="0"/>
              </a:rPr>
              <a:t>	Road Type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Manual analysis is</a:t>
            </a:r>
          </a:p>
          <a:p>
            <a:r>
              <a:rPr lang="en-IN" sz="2200" dirty="0">
                <a:latin typeface="Times New Roman" panose="02020603050405020304" pitchFamily="18" charset="0"/>
                <a:cs typeface="Times New Roman" panose="02020603050405020304" pitchFamily="18" charset="0"/>
              </a:rPr>
              <a:t>	Time consuming </a:t>
            </a:r>
          </a:p>
          <a:p>
            <a:r>
              <a:rPr lang="en-IN" sz="2200" dirty="0">
                <a:latin typeface="Times New Roman" panose="02020603050405020304" pitchFamily="18" charset="0"/>
                <a:cs typeface="Times New Roman" panose="02020603050405020304" pitchFamily="18" charset="0"/>
              </a:rPr>
              <a:t>	Error prone </a:t>
            </a:r>
          </a:p>
          <a:p>
            <a:r>
              <a:rPr lang="en-IN" sz="2200" dirty="0">
                <a:latin typeface="Times New Roman" panose="02020603050405020304" pitchFamily="18" charset="0"/>
                <a:cs typeface="Times New Roman" panose="02020603050405020304" pitchFamily="18" charset="0"/>
              </a:rPr>
              <a:t>	Difficult for large datasets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Using Python Data Analysis, we can automatically clean,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and visualize the data to assist road safety decisions.</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495485"/>
            <a:ext cx="8534400" cy="4524315"/>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Accident records are reviewed manually.</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Data is usually stored in</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Excel Sheets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CSV Files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Paper Records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Problems include</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Slow processing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Human errors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Missing values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Difficult to identify hidden patterns </a:t>
            </a:r>
          </a:p>
          <a:p>
            <a:pPr marL="342900" indent="-342900">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No automatic visualization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A35C976F-1965-A32D-B4DC-F0B4E4BC385C}"/>
              </a:ext>
            </a:extLst>
          </p:cNvPr>
          <p:cNvSpPr txBox="1"/>
          <p:nvPr/>
        </p:nvSpPr>
        <p:spPr>
          <a:xfrm>
            <a:off x="762000" y="1143000"/>
            <a:ext cx="8534400" cy="3411511"/>
          </a:xfrm>
          <a:prstGeom prst="rect">
            <a:avLst/>
          </a:prstGeom>
          <a:noFill/>
        </p:spPr>
        <p:txBody>
          <a:bodyPr wrap="square" rtlCol="0">
            <a:spAutoFit/>
          </a:bodyPr>
          <a:lstStyle/>
          <a:p>
            <a:pPr>
              <a:lnSpc>
                <a:spcPct val="150000"/>
              </a:lnSpc>
              <a:spcBef>
                <a:spcPts val="1200"/>
              </a:spcBef>
            </a:pPr>
            <a:r>
              <a:rPr lang="en-US" sz="2400" b="1" u="sng" dirty="0">
                <a:latin typeface="Times New Roman" panose="02020603050405020304" pitchFamily="18" charset="0"/>
                <a:cs typeface="Times New Roman" panose="02020603050405020304" pitchFamily="18" charset="0"/>
              </a:rPr>
              <a:t>Limitations of Existing System:</a:t>
            </a:r>
            <a:endParaRPr lang="en-US" sz="2400" u="sng" dirty="0">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Large amount of manual work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data affects decision making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Difficult to compare accident locations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graphical insights, poor trend accuracy</a:t>
            </a:r>
            <a:endParaRPr lang="en-IN" sz="20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876300" y="628649"/>
            <a:ext cx="8305800" cy="761747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Proposed System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Traffic Accident Data Analysis System</a:t>
            </a:r>
            <a:r>
              <a:rPr lang="en-IN" sz="2400" dirty="0">
                <a:latin typeface="Times New Roman" panose="02020603050405020304" pitchFamily="18" charset="0"/>
                <a:cs typeface="Times New Roman" panose="02020603050405020304" pitchFamily="18" charset="0"/>
              </a:rPr>
              <a:t> using Python.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performs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Load accident dataset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Clean missing records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Analyze accident locations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Analyze accident severity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Analyze monthly accident trends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Plot accidents by location using a bar graph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Plot monthly trend using a line chart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Plot severity levels using a pie chart </a:t>
            </a:r>
            <a:br>
              <a:rPr lang="en-IN" sz="2400" dirty="0"/>
            </a:br>
            <a:endParaRPr lang="en-IN" sz="2400" dirty="0"/>
          </a:p>
          <a:p>
            <a:r>
              <a:rPr lang="en-IN" sz="2400" b="1" dirty="0">
                <a:latin typeface="Times New Roman" panose="02020603050405020304" pitchFamily="18" charset="0"/>
                <a:cs typeface="Times New Roman" panose="02020603050405020304" pitchFamily="18" charset="0"/>
              </a:rPr>
              <a:t>Advantages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Faster data processing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Better data quality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Automatic cleaning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Easy visualization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Better understanding of accident patterns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Supports accident hotspot prediction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CA7EE8-74F6-AF36-B9E5-7578E123718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DFCC38E1-9856-A2E3-4EB5-E8E13767AF6F}"/>
              </a:ext>
            </a:extLst>
          </p:cNvPr>
          <p:cNvSpPr txBox="1"/>
          <p:nvPr/>
        </p:nvSpPr>
        <p:spPr>
          <a:xfrm>
            <a:off x="636712" y="1241769"/>
            <a:ext cx="8534400" cy="3411511"/>
          </a:xfrm>
          <a:prstGeom prst="rect">
            <a:avLst/>
          </a:prstGeom>
          <a:noFill/>
        </p:spPr>
        <p:txBody>
          <a:bodyPr wrap="square" rtlCol="0">
            <a:spAutoFit/>
          </a:bodyPr>
          <a:lstStyle/>
          <a:p>
            <a:pPr>
              <a:lnSpc>
                <a:spcPct val="150000"/>
              </a:lnSpc>
              <a:spcBef>
                <a:spcPts val="1200"/>
              </a:spcBef>
            </a:pPr>
            <a:r>
              <a:rPr lang="en-IN" sz="2400" b="1" u="sng" dirty="0">
                <a:latin typeface="Times New Roman" panose="02020603050405020304" pitchFamily="18" charset="0"/>
                <a:cs typeface="Times New Roman" panose="02020603050405020304" pitchFamily="18" charset="0"/>
              </a:rPr>
              <a:t>DATASET DESCRIPTION</a:t>
            </a: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aphicFrame>
        <p:nvGraphicFramePr>
          <p:cNvPr id="2" name="Table 1">
            <a:extLst>
              <a:ext uri="{FF2B5EF4-FFF2-40B4-BE49-F238E27FC236}">
                <a16:creationId xmlns:a16="http://schemas.microsoft.com/office/drawing/2014/main" id="{DEA1E91E-EF4D-C73B-A7C1-DB20552B5A16}"/>
              </a:ext>
            </a:extLst>
          </p:cNvPr>
          <p:cNvGraphicFramePr>
            <a:graphicFrameLocks noGrp="1"/>
          </p:cNvGraphicFramePr>
          <p:nvPr>
            <p:extLst>
              <p:ext uri="{D42A27DB-BD31-4B8C-83A1-F6EECF244321}">
                <p14:modId xmlns:p14="http://schemas.microsoft.com/office/powerpoint/2010/main" val="2259121776"/>
              </p:ext>
            </p:extLst>
          </p:nvPr>
        </p:nvGraphicFramePr>
        <p:xfrm>
          <a:off x="1676400" y="2057400"/>
          <a:ext cx="6705600" cy="482092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1944288598"/>
                    </a:ext>
                  </a:extLst>
                </a:gridCol>
                <a:gridCol w="3352800">
                  <a:extLst>
                    <a:ext uri="{9D8B030D-6E8A-4147-A177-3AD203B41FA5}">
                      <a16:colId xmlns:a16="http://schemas.microsoft.com/office/drawing/2014/main" val="115453955"/>
                    </a:ext>
                  </a:extLst>
                </a:gridCol>
              </a:tblGrid>
              <a:tr h="370840">
                <a:tc>
                  <a:txBody>
                    <a:bodyPr/>
                    <a:lstStyle/>
                    <a:p>
                      <a:pPr>
                        <a:buNone/>
                      </a:pPr>
                      <a:r>
                        <a:rPr lang="en-IN" dirty="0"/>
                        <a:t>Feature</a:t>
                      </a:r>
                    </a:p>
                  </a:txBody>
                  <a:tcPr anchor="ctr"/>
                </a:tc>
                <a:tc>
                  <a:txBody>
                    <a:bodyPr/>
                    <a:lstStyle/>
                    <a:p>
                      <a:pPr>
                        <a:buNone/>
                      </a:pPr>
                      <a:r>
                        <a:rPr lang="en-IN"/>
                        <a:t>Description</a:t>
                      </a:r>
                    </a:p>
                  </a:txBody>
                  <a:tcPr anchor="ctr"/>
                </a:tc>
                <a:extLst>
                  <a:ext uri="{0D108BD9-81ED-4DB2-BD59-A6C34878D82A}">
                    <a16:rowId xmlns:a16="http://schemas.microsoft.com/office/drawing/2014/main" val="430319842"/>
                  </a:ext>
                </a:extLst>
              </a:tr>
              <a:tr h="370840">
                <a:tc>
                  <a:txBody>
                    <a:bodyPr/>
                    <a:lstStyle/>
                    <a:p>
                      <a:pPr>
                        <a:buNone/>
                      </a:pPr>
                      <a:r>
                        <a:rPr lang="en-IN" dirty="0" err="1"/>
                        <a:t>Accident_ID</a:t>
                      </a:r>
                      <a:endParaRPr lang="en-IN" dirty="0"/>
                    </a:p>
                  </a:txBody>
                  <a:tcPr anchor="ctr"/>
                </a:tc>
                <a:tc>
                  <a:txBody>
                    <a:bodyPr/>
                    <a:lstStyle/>
                    <a:p>
                      <a:pPr>
                        <a:buNone/>
                      </a:pPr>
                      <a:r>
                        <a:rPr lang="en-IN" dirty="0"/>
                        <a:t>Unique accident number</a:t>
                      </a:r>
                    </a:p>
                  </a:txBody>
                  <a:tcPr anchor="ctr"/>
                </a:tc>
                <a:extLst>
                  <a:ext uri="{0D108BD9-81ED-4DB2-BD59-A6C34878D82A}">
                    <a16:rowId xmlns:a16="http://schemas.microsoft.com/office/drawing/2014/main" val="2626620897"/>
                  </a:ext>
                </a:extLst>
              </a:tr>
              <a:tr h="370840">
                <a:tc>
                  <a:txBody>
                    <a:bodyPr/>
                    <a:lstStyle/>
                    <a:p>
                      <a:pPr>
                        <a:buNone/>
                      </a:pPr>
                      <a:r>
                        <a:rPr lang="en-IN" dirty="0" err="1"/>
                        <a:t>Month_Year</a:t>
                      </a:r>
                      <a:endParaRPr lang="en-IN" dirty="0"/>
                    </a:p>
                  </a:txBody>
                  <a:tcPr anchor="ctr"/>
                </a:tc>
                <a:tc>
                  <a:txBody>
                    <a:bodyPr/>
                    <a:lstStyle/>
                    <a:p>
                      <a:pPr>
                        <a:buNone/>
                      </a:pPr>
                      <a:r>
                        <a:rPr lang="en-IN" dirty="0"/>
                        <a:t>Month and year of accident</a:t>
                      </a:r>
                    </a:p>
                  </a:txBody>
                  <a:tcPr anchor="ctr"/>
                </a:tc>
                <a:extLst>
                  <a:ext uri="{0D108BD9-81ED-4DB2-BD59-A6C34878D82A}">
                    <a16:rowId xmlns:a16="http://schemas.microsoft.com/office/drawing/2014/main" val="2511511095"/>
                  </a:ext>
                </a:extLst>
              </a:tr>
              <a:tr h="370840">
                <a:tc>
                  <a:txBody>
                    <a:bodyPr/>
                    <a:lstStyle/>
                    <a:p>
                      <a:pPr>
                        <a:buNone/>
                      </a:pPr>
                      <a:r>
                        <a:rPr lang="en-IN" dirty="0"/>
                        <a:t>Time</a:t>
                      </a:r>
                    </a:p>
                  </a:txBody>
                  <a:tcPr anchor="ctr"/>
                </a:tc>
                <a:tc>
                  <a:txBody>
                    <a:bodyPr/>
                    <a:lstStyle/>
                    <a:p>
                      <a:pPr>
                        <a:buNone/>
                      </a:pPr>
                      <a:r>
                        <a:rPr lang="en-IN"/>
                        <a:t>Time of accident</a:t>
                      </a:r>
                    </a:p>
                  </a:txBody>
                  <a:tcPr anchor="ctr"/>
                </a:tc>
                <a:extLst>
                  <a:ext uri="{0D108BD9-81ED-4DB2-BD59-A6C34878D82A}">
                    <a16:rowId xmlns:a16="http://schemas.microsoft.com/office/drawing/2014/main" val="478132485"/>
                  </a:ext>
                </a:extLst>
              </a:tr>
              <a:tr h="370840">
                <a:tc>
                  <a:txBody>
                    <a:bodyPr/>
                    <a:lstStyle/>
                    <a:p>
                      <a:pPr>
                        <a:buNone/>
                      </a:pPr>
                      <a:r>
                        <a:rPr lang="en-IN" dirty="0"/>
                        <a:t>Location</a:t>
                      </a:r>
                    </a:p>
                  </a:txBody>
                  <a:tcPr anchor="ctr"/>
                </a:tc>
                <a:tc>
                  <a:txBody>
                    <a:bodyPr/>
                    <a:lstStyle/>
                    <a:p>
                      <a:pPr>
                        <a:buNone/>
                      </a:pPr>
                      <a:r>
                        <a:rPr lang="en-IN"/>
                        <a:t>Accident location/area</a:t>
                      </a:r>
                    </a:p>
                  </a:txBody>
                  <a:tcPr anchor="ctr"/>
                </a:tc>
                <a:extLst>
                  <a:ext uri="{0D108BD9-81ED-4DB2-BD59-A6C34878D82A}">
                    <a16:rowId xmlns:a16="http://schemas.microsoft.com/office/drawing/2014/main" val="2830447892"/>
                  </a:ext>
                </a:extLst>
              </a:tr>
              <a:tr h="370840">
                <a:tc>
                  <a:txBody>
                    <a:bodyPr/>
                    <a:lstStyle/>
                    <a:p>
                      <a:pPr>
                        <a:buNone/>
                      </a:pPr>
                      <a:r>
                        <a:rPr lang="en-IN" dirty="0" err="1"/>
                        <a:t>Accident_Severity</a:t>
                      </a:r>
                      <a:endParaRPr lang="en-IN" dirty="0"/>
                    </a:p>
                  </a:txBody>
                  <a:tcPr anchor="ctr"/>
                </a:tc>
                <a:tc>
                  <a:txBody>
                    <a:bodyPr/>
                    <a:lstStyle/>
                    <a:p>
                      <a:pPr>
                        <a:buNone/>
                      </a:pPr>
                      <a:r>
                        <a:rPr lang="en-IN"/>
                        <a:t>Minor/Serious/Fatal</a:t>
                      </a:r>
                    </a:p>
                  </a:txBody>
                  <a:tcPr anchor="ctr"/>
                </a:tc>
                <a:extLst>
                  <a:ext uri="{0D108BD9-81ED-4DB2-BD59-A6C34878D82A}">
                    <a16:rowId xmlns:a16="http://schemas.microsoft.com/office/drawing/2014/main" val="2385607616"/>
                  </a:ext>
                </a:extLst>
              </a:tr>
              <a:tr h="370840">
                <a:tc>
                  <a:txBody>
                    <a:bodyPr/>
                    <a:lstStyle/>
                    <a:p>
                      <a:pPr>
                        <a:buNone/>
                      </a:pPr>
                      <a:r>
                        <a:rPr lang="en-IN" dirty="0" err="1"/>
                        <a:t>Vehicle_Type</a:t>
                      </a:r>
                      <a:endParaRPr lang="en-IN" dirty="0"/>
                    </a:p>
                  </a:txBody>
                  <a:tcPr anchor="ctr"/>
                </a:tc>
                <a:tc>
                  <a:txBody>
                    <a:bodyPr/>
                    <a:lstStyle/>
                    <a:p>
                      <a:pPr>
                        <a:buNone/>
                      </a:pPr>
                      <a:r>
                        <a:rPr lang="en-IN"/>
                        <a:t>Type of vehicle involved</a:t>
                      </a:r>
                    </a:p>
                  </a:txBody>
                  <a:tcPr anchor="ctr"/>
                </a:tc>
                <a:extLst>
                  <a:ext uri="{0D108BD9-81ED-4DB2-BD59-A6C34878D82A}">
                    <a16:rowId xmlns:a16="http://schemas.microsoft.com/office/drawing/2014/main" val="3951019599"/>
                  </a:ext>
                </a:extLst>
              </a:tr>
              <a:tr h="370840">
                <a:tc>
                  <a:txBody>
                    <a:bodyPr/>
                    <a:lstStyle/>
                    <a:p>
                      <a:pPr>
                        <a:buNone/>
                      </a:pPr>
                      <a:r>
                        <a:rPr lang="en-IN" dirty="0" err="1"/>
                        <a:t>Weather_Condition</a:t>
                      </a:r>
                      <a:endParaRPr lang="en-IN" dirty="0"/>
                    </a:p>
                  </a:txBody>
                  <a:tcPr anchor="ctr"/>
                </a:tc>
                <a:tc>
                  <a:txBody>
                    <a:bodyPr/>
                    <a:lstStyle/>
                    <a:p>
                      <a:pPr>
                        <a:buNone/>
                      </a:pPr>
                      <a:r>
                        <a:rPr lang="en-IN"/>
                        <a:t>Weather at time of accident</a:t>
                      </a:r>
                    </a:p>
                  </a:txBody>
                  <a:tcPr anchor="ctr"/>
                </a:tc>
                <a:extLst>
                  <a:ext uri="{0D108BD9-81ED-4DB2-BD59-A6C34878D82A}">
                    <a16:rowId xmlns:a16="http://schemas.microsoft.com/office/drawing/2014/main" val="279536793"/>
                  </a:ext>
                </a:extLst>
              </a:tr>
              <a:tr h="370840">
                <a:tc>
                  <a:txBody>
                    <a:bodyPr/>
                    <a:lstStyle/>
                    <a:p>
                      <a:pPr>
                        <a:buNone/>
                      </a:pPr>
                      <a:r>
                        <a:rPr lang="en-IN" dirty="0" err="1"/>
                        <a:t>Road_Type</a:t>
                      </a:r>
                      <a:endParaRPr lang="en-IN" dirty="0"/>
                    </a:p>
                  </a:txBody>
                  <a:tcPr anchor="ctr"/>
                </a:tc>
                <a:tc>
                  <a:txBody>
                    <a:bodyPr/>
                    <a:lstStyle/>
                    <a:p>
                      <a:pPr>
                        <a:buNone/>
                      </a:pPr>
                      <a:r>
                        <a:rPr lang="en-IN" dirty="0"/>
                        <a:t>Highway/Urban </a:t>
                      </a:r>
                      <a:r>
                        <a:rPr lang="en-IN"/>
                        <a:t>road/Village</a:t>
                      </a:r>
                    </a:p>
                  </a:txBody>
                  <a:tcPr anchor="ctr"/>
                </a:tc>
                <a:extLst>
                  <a:ext uri="{0D108BD9-81ED-4DB2-BD59-A6C34878D82A}">
                    <a16:rowId xmlns:a16="http://schemas.microsoft.com/office/drawing/2014/main" val="202936586"/>
                  </a:ext>
                </a:extLst>
              </a:tr>
              <a:tr h="370840">
                <a:tc>
                  <a:txBody>
                    <a:bodyPr/>
                    <a:lstStyle/>
                    <a:p>
                      <a:pPr>
                        <a:buNone/>
                      </a:pPr>
                      <a:r>
                        <a:rPr lang="en-IN" dirty="0" err="1"/>
                        <a:t>Number_of_Casualties</a:t>
                      </a:r>
                      <a:endParaRPr lang="en-IN" dirty="0"/>
                    </a:p>
                  </a:txBody>
                  <a:tcPr anchor="ctr"/>
                </a:tc>
                <a:tc>
                  <a:txBody>
                    <a:bodyPr/>
                    <a:lstStyle/>
                    <a:p>
                      <a:pPr>
                        <a:buNone/>
                      </a:pPr>
                      <a:r>
                        <a:rPr lang="en-IN" dirty="0"/>
                        <a:t>Number of casualties recorded</a:t>
                      </a:r>
                    </a:p>
                  </a:txBody>
                  <a:tcPr anchor="ctr"/>
                </a:tc>
                <a:extLst>
                  <a:ext uri="{0D108BD9-81ED-4DB2-BD59-A6C34878D82A}">
                    <a16:rowId xmlns:a16="http://schemas.microsoft.com/office/drawing/2014/main" val="2155961198"/>
                  </a:ext>
                </a:extLst>
              </a:tr>
              <a:tr h="370840">
                <a:tc>
                  <a:txBody>
                    <a:bodyPr/>
                    <a:lstStyle/>
                    <a:p>
                      <a:pPr>
                        <a:buNone/>
                      </a:pPr>
                      <a:r>
                        <a:rPr lang="en-IN" dirty="0" err="1"/>
                        <a:t>Number_of_Fatalities</a:t>
                      </a:r>
                      <a:endParaRPr lang="en-IN" dirty="0"/>
                    </a:p>
                  </a:txBody>
                  <a:tcPr anchor="ctr"/>
                </a:tc>
                <a:tc>
                  <a:txBody>
                    <a:bodyPr/>
                    <a:lstStyle/>
                    <a:p>
                      <a:pPr>
                        <a:buNone/>
                      </a:pPr>
                      <a:r>
                        <a:rPr lang="en-IN" dirty="0"/>
                        <a:t>Number of fatalities recorded</a:t>
                      </a:r>
                    </a:p>
                  </a:txBody>
                  <a:tcPr anchor="ctr"/>
                </a:tc>
                <a:extLst>
                  <a:ext uri="{0D108BD9-81ED-4DB2-BD59-A6C34878D82A}">
                    <a16:rowId xmlns:a16="http://schemas.microsoft.com/office/drawing/2014/main" val="2585337993"/>
                  </a:ext>
                </a:extLst>
              </a:tr>
              <a:tr h="370840">
                <a:tc>
                  <a:txBody>
                    <a:bodyPr/>
                    <a:lstStyle/>
                    <a:p>
                      <a:pPr>
                        <a:buNone/>
                      </a:pPr>
                      <a:r>
                        <a:rPr lang="en-IN" dirty="0" err="1"/>
                        <a:t>Light_Condition</a:t>
                      </a:r>
                      <a:endParaRPr lang="en-IN" dirty="0"/>
                    </a:p>
                  </a:txBody>
                  <a:tcPr anchor="ctr"/>
                </a:tc>
                <a:tc>
                  <a:txBody>
                    <a:bodyPr/>
                    <a:lstStyle/>
                    <a:p>
                      <a:pPr>
                        <a:buNone/>
                      </a:pPr>
                      <a:r>
                        <a:rPr lang="en-IN" dirty="0"/>
                        <a:t>Daylight/Dark/Dusk</a:t>
                      </a:r>
                    </a:p>
                  </a:txBody>
                  <a:tcPr anchor="ctr"/>
                </a:tc>
                <a:extLst>
                  <a:ext uri="{0D108BD9-81ED-4DB2-BD59-A6C34878D82A}">
                    <a16:rowId xmlns:a16="http://schemas.microsoft.com/office/drawing/2014/main" val="1402234857"/>
                  </a:ext>
                </a:extLst>
              </a:tr>
              <a:tr h="370840">
                <a:tc>
                  <a:txBody>
                    <a:bodyPr/>
                    <a:lstStyle/>
                    <a:p>
                      <a:pPr>
                        <a:buNone/>
                      </a:pPr>
                      <a:r>
                        <a:rPr lang="en-IN" dirty="0" err="1"/>
                        <a:t>Speed_Limit</a:t>
                      </a:r>
                      <a:endParaRPr lang="en-IN" dirty="0"/>
                    </a:p>
                  </a:txBody>
                  <a:tcPr anchor="ctr"/>
                </a:tc>
                <a:tc>
                  <a:txBody>
                    <a:bodyPr/>
                    <a:lstStyle/>
                    <a:p>
                      <a:pPr>
                        <a:buNone/>
                      </a:pPr>
                      <a:r>
                        <a:rPr lang="en-IN" dirty="0"/>
                        <a:t>Posted speed limit</a:t>
                      </a:r>
                    </a:p>
                  </a:txBody>
                  <a:tcPr anchor="ctr"/>
                </a:tc>
                <a:extLst>
                  <a:ext uri="{0D108BD9-81ED-4DB2-BD59-A6C34878D82A}">
                    <a16:rowId xmlns:a16="http://schemas.microsoft.com/office/drawing/2014/main" val="3663287366"/>
                  </a:ext>
                </a:extLst>
              </a:tr>
            </a:tbl>
          </a:graphicData>
        </a:graphic>
      </p:graphicFrame>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038600"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REQUIREMENTS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934735"/>
            <a:ext cx="8305800" cy="5932393"/>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Google </a:t>
            </a:r>
            <a:r>
              <a:rPr lang="en-IN" sz="2200" dirty="0" err="1">
                <a:latin typeface="Times New Roman" panose="02020603050405020304" pitchFamily="18" charset="0"/>
                <a:cs typeface="Times New Roman" panose="02020603050405020304" pitchFamily="18" charset="0"/>
              </a:rPr>
              <a:t>Collab</a:t>
            </a:r>
            <a:endParaRPr lang="en-IN" sz="22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Libraries: Pandas, </a:t>
            </a:r>
            <a:r>
              <a:rPr lang="en-IN" sz="2200" dirty="0" err="1">
                <a:latin typeface="Times New Roman" panose="02020603050405020304" pitchFamily="18" charset="0"/>
                <a:cs typeface="Times New Roman" panose="02020603050405020304" pitchFamily="18" charset="0"/>
              </a:rPr>
              <a:t>Numpy</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Matplotlib</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Seaborn</a:t>
            </a:r>
            <a:endParaRPr lang="en-IN"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1143000" y="1589604"/>
            <a:ext cx="8610599" cy="6247864"/>
          </a:xfrm>
          <a:prstGeom prst="rect">
            <a:avLst/>
          </a:prstGeom>
          <a:noFill/>
        </p:spPr>
        <p:txBody>
          <a:bodyPr wrap="square">
            <a:spAutoFit/>
          </a:bodyPr>
          <a:lstStyle/>
          <a:p>
            <a:r>
              <a:rPr lang="en-IN" sz="2000" b="1" dirty="0"/>
              <a:t>Module 1</a:t>
            </a:r>
          </a:p>
          <a:p>
            <a:r>
              <a:rPr lang="en-IN" sz="2000" dirty="0"/>
              <a:t>Dataset Loading</a:t>
            </a:r>
          </a:p>
          <a:p>
            <a:r>
              <a:rPr lang="en-IN" sz="2000" dirty="0"/>
              <a:t>Import libraries </a:t>
            </a:r>
          </a:p>
          <a:p>
            <a:r>
              <a:rPr lang="en-IN" sz="2000" dirty="0"/>
              <a:t>Read accident CSV file </a:t>
            </a:r>
          </a:p>
          <a:p>
            <a:r>
              <a:rPr lang="en-IN" sz="2000" dirty="0"/>
              <a:t>Display first rows </a:t>
            </a:r>
          </a:p>
          <a:p>
            <a:endParaRPr lang="en-IN" sz="2000" dirty="0"/>
          </a:p>
          <a:p>
            <a:r>
              <a:rPr lang="en-IN" sz="2000" b="1" dirty="0"/>
              <a:t>Module 2</a:t>
            </a:r>
          </a:p>
          <a:p>
            <a:r>
              <a:rPr lang="en-IN" sz="2000" dirty="0"/>
              <a:t>Data Exploration</a:t>
            </a:r>
          </a:p>
          <a:p>
            <a:r>
              <a:rPr lang="en-IN" sz="2000" dirty="0"/>
              <a:t>Dataset shape </a:t>
            </a:r>
          </a:p>
          <a:p>
            <a:r>
              <a:rPr lang="en-IN" sz="2000" dirty="0"/>
              <a:t>Column names </a:t>
            </a:r>
          </a:p>
          <a:p>
            <a:r>
              <a:rPr lang="en-IN" sz="2000" dirty="0"/>
              <a:t>Data types </a:t>
            </a:r>
          </a:p>
          <a:p>
            <a:r>
              <a:rPr lang="en-IN" sz="2000" dirty="0"/>
              <a:t>Missing </a:t>
            </a:r>
            <a:r>
              <a:rPr lang="en-IN" sz="2000"/>
              <a:t>values </a:t>
            </a:r>
          </a:p>
          <a:p>
            <a:endParaRPr lang="en-IN" sz="2000" dirty="0"/>
          </a:p>
          <a:p>
            <a:r>
              <a:rPr lang="en-IN" sz="2000" b="1" dirty="0"/>
              <a:t>Module 3</a:t>
            </a:r>
          </a:p>
          <a:p>
            <a:r>
              <a:rPr lang="en-IN" sz="2000" dirty="0"/>
              <a:t>Data Cleaning</a:t>
            </a:r>
          </a:p>
          <a:p>
            <a:r>
              <a:rPr lang="en-IN" sz="2000" dirty="0"/>
              <a:t>Fill missing values </a:t>
            </a:r>
          </a:p>
          <a:p>
            <a:r>
              <a:rPr lang="en-IN" sz="2000" dirty="0"/>
              <a:t>Remove duplicates </a:t>
            </a:r>
          </a:p>
          <a:p>
            <a:r>
              <a:rPr lang="en-IN" sz="2000" dirty="0"/>
              <a:t>Handle incorrect data </a:t>
            </a:r>
          </a:p>
          <a:p>
            <a:br>
              <a:rPr lang="en-IN" sz="2000" dirty="0"/>
            </a:br>
            <a:endParaRPr lang="en-IN" sz="2000" dirty="0"/>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8057B3F-5DAB-DD41-AECE-F331B855040E}"/>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87F558-D85F-5AC0-F454-1F63CE0A07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A168F22-39BB-5B7D-3CF6-D85FE785C6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54020-DB2F-8565-330C-84D2218CC66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E7A54A0-4068-FC5A-C8B6-7CD6DED089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5F015672-148D-A104-60CF-C6A88B194918}"/>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6C365DC-19B7-1764-968A-F9C87D5E495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6D4B64F4-A7BB-5C66-D262-C3B30131FC70}"/>
              </a:ext>
            </a:extLst>
          </p:cNvPr>
          <p:cNvSpPr txBox="1"/>
          <p:nvPr/>
        </p:nvSpPr>
        <p:spPr>
          <a:xfrm>
            <a:off x="609600" y="921677"/>
            <a:ext cx="8610599" cy="6247864"/>
          </a:xfrm>
          <a:prstGeom prst="rect">
            <a:avLst/>
          </a:prstGeom>
          <a:noFill/>
        </p:spPr>
        <p:txBody>
          <a:bodyPr wrap="square">
            <a:spAutoFit/>
          </a:bodyPr>
          <a:lstStyle/>
          <a:p>
            <a:r>
              <a:rPr lang="en-IN" sz="2000" b="1" dirty="0"/>
              <a:t>Module 4</a:t>
            </a:r>
          </a:p>
          <a:p>
            <a:r>
              <a:rPr lang="en-IN" sz="2000" dirty="0"/>
              <a:t>Data Analysis</a:t>
            </a:r>
          </a:p>
          <a:p>
            <a:r>
              <a:rPr lang="en-IN" sz="2000" dirty="0"/>
              <a:t>Accident location analysis </a:t>
            </a:r>
          </a:p>
          <a:p>
            <a:r>
              <a:rPr lang="en-IN" sz="2000" dirty="0"/>
              <a:t>Severity analysis </a:t>
            </a:r>
          </a:p>
          <a:p>
            <a:r>
              <a:rPr lang="en-IN" sz="2000" dirty="0"/>
              <a:t>Monthly accident trends </a:t>
            </a:r>
            <a:br>
              <a:rPr lang="en-IN" sz="2000" dirty="0"/>
            </a:br>
            <a:endParaRPr lang="en-IN" sz="2000" dirty="0"/>
          </a:p>
          <a:p>
            <a:r>
              <a:rPr lang="en-IN" sz="2000" b="1" dirty="0"/>
              <a:t>Module 5</a:t>
            </a:r>
          </a:p>
          <a:p>
            <a:r>
              <a:rPr lang="en-IN" sz="2000" dirty="0"/>
              <a:t>Data Visualization</a:t>
            </a:r>
          </a:p>
          <a:p>
            <a:r>
              <a:rPr lang="en-IN" sz="2000" dirty="0"/>
              <a:t>Visualize</a:t>
            </a:r>
          </a:p>
          <a:p>
            <a:r>
              <a:rPr lang="en-IN" sz="2000" dirty="0"/>
              <a:t>Accidents by Location (Bar Graph) </a:t>
            </a:r>
          </a:p>
          <a:p>
            <a:r>
              <a:rPr lang="en-IN" sz="2000" dirty="0"/>
              <a:t>Monthly Trend (Line Chart) </a:t>
            </a:r>
          </a:p>
          <a:p>
            <a:r>
              <a:rPr lang="en-IN" sz="2000" dirty="0"/>
              <a:t>Severity Levels (Pie Chart) </a:t>
            </a:r>
            <a:br>
              <a:rPr lang="en-IN" sz="2000" dirty="0"/>
            </a:br>
            <a:endParaRPr lang="en-IN" sz="2000" dirty="0"/>
          </a:p>
          <a:p>
            <a:r>
              <a:rPr lang="en-IN" sz="2000" b="1" dirty="0"/>
              <a:t>Module 6</a:t>
            </a:r>
          </a:p>
          <a:p>
            <a:r>
              <a:rPr lang="en-IN" sz="2000" dirty="0"/>
              <a:t>Basic Prediction Logic</a:t>
            </a:r>
          </a:p>
          <a:p>
            <a:r>
              <a:rPr lang="en-IN" sz="2000" dirty="0"/>
              <a:t>Using processed data,</a:t>
            </a:r>
          </a:p>
          <a:p>
            <a:r>
              <a:rPr lang="en-IN" sz="2000" dirty="0"/>
              <a:t>Predict</a:t>
            </a:r>
          </a:p>
          <a:p>
            <a:r>
              <a:rPr lang="en-IN" sz="2000" dirty="0"/>
              <a:t>Accident Hotspots and High-Risk Periods</a:t>
            </a:r>
          </a:p>
          <a:p>
            <a:br>
              <a:rPr lang="en-IN" sz="2000" dirty="0"/>
            </a:br>
            <a:endParaRPr lang="en-IN" sz="2000" dirty="0"/>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DOCUMENTATION</a:t>
            </a:r>
          </a:p>
        </p:txBody>
      </p:sp>
      <p:sp>
        <p:nvSpPr>
          <p:cNvPr id="16" name="TextBox 15">
            <a:extLst>
              <a:ext uri="{FF2B5EF4-FFF2-40B4-BE49-F238E27FC236}">
                <a16:creationId xmlns:a16="http://schemas.microsoft.com/office/drawing/2014/main" id="{A35C976F-1965-A32D-B4DC-F0B4E4BC385C}"/>
              </a:ext>
            </a:extLst>
          </p:cNvPr>
          <p:cNvSpPr txBox="1"/>
          <p:nvPr/>
        </p:nvSpPr>
        <p:spPr>
          <a:xfrm>
            <a:off x="762000" y="1143000"/>
            <a:ext cx="8534400" cy="3411511"/>
          </a:xfrm>
          <a:prstGeom prst="rect">
            <a:avLst/>
          </a:prstGeom>
          <a:noFill/>
        </p:spPr>
        <p:txBody>
          <a:bodyPr wrap="square" rtlCol="0">
            <a:spAutoFit/>
          </a:bodyPr>
          <a:lstStyle/>
          <a:p>
            <a:pPr>
              <a:lnSpc>
                <a:spcPct val="150000"/>
              </a:lnSpc>
              <a:spcBef>
                <a:spcPts val="1200"/>
              </a:spcBef>
            </a:pPr>
            <a:r>
              <a:rPr lang="en-US" sz="2400" b="1" u="sng" dirty="0">
                <a:latin typeface="Times New Roman" panose="02020603050405020304" pitchFamily="18" charset="0"/>
                <a:cs typeface="Times New Roman" panose="02020603050405020304" pitchFamily="18" charset="0"/>
              </a:rPr>
              <a:t>Documentation Must Contain:</a:t>
            </a:r>
            <a:endParaRPr lang="en-US" sz="2400" u="sng" dirty="0">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 description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Processing logic </a:t>
            </a: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Results </a:t>
            </a:r>
            <a:endParaRPr lang="en-IN" sz="2000" dirty="0">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Workflow </a:t>
            </a:r>
            <a:endParaRPr lang="en-IN" sz="2000" dirty="0">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Screenshots </a:t>
            </a:r>
            <a:endParaRPr lang="en-IN" sz="2000" dirty="0">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Enhancements (accident hotspot prediction)</a:t>
            </a:r>
            <a:endParaRPr lang="en-IN" sz="20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072-48CF-7A07-3283-0CB79F29AB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17C9B2-E7CC-1C9A-D7F8-2089A03BE5C7}"/>
              </a:ext>
            </a:extLst>
          </p:cNvPr>
          <p:cNvSpPr txBox="1"/>
          <p:nvPr/>
        </p:nvSpPr>
        <p:spPr>
          <a:xfrm>
            <a:off x="872251" y="1423788"/>
            <a:ext cx="8574881" cy="3416320"/>
          </a:xfrm>
          <a:prstGeom prst="rect">
            <a:avLst/>
          </a:prstGeom>
          <a:noFill/>
        </p:spPr>
        <p:txBody>
          <a:bodyPr wrap="square" rtlCol="0">
            <a:spAutoFit/>
          </a:bodyPr>
          <a:lstStyle/>
          <a:p>
            <a:pPr marL="342900" indent="-342900">
              <a:buFont typeface="Arial" panose="020B0604020202020204" pitchFamily="34" charset="0"/>
              <a:buChar char="•"/>
            </a:pPr>
            <a:r>
              <a:rPr lang="en-IN" sz="2400" dirty="0"/>
              <a:t>The system displays</a:t>
            </a:r>
          </a:p>
          <a:p>
            <a:pPr marL="342900" indent="-342900">
              <a:buFont typeface="Arial" panose="020B0604020202020204" pitchFamily="34" charset="0"/>
              <a:buChar char="•"/>
            </a:pPr>
            <a:r>
              <a:rPr lang="en-IN" sz="2400" dirty="0"/>
              <a:t>Dataset Information </a:t>
            </a:r>
          </a:p>
          <a:p>
            <a:pPr marL="342900" indent="-342900">
              <a:buFont typeface="Arial" panose="020B0604020202020204" pitchFamily="34" charset="0"/>
              <a:buChar char="•"/>
            </a:pPr>
            <a:r>
              <a:rPr lang="en-IN" sz="2400" dirty="0"/>
              <a:t>Missing Value Report </a:t>
            </a:r>
          </a:p>
          <a:p>
            <a:pPr marL="342900" indent="-342900">
              <a:buFont typeface="Arial" panose="020B0604020202020204" pitchFamily="34" charset="0"/>
              <a:buChar char="•"/>
            </a:pPr>
            <a:r>
              <a:rPr lang="en-IN" sz="2400" dirty="0"/>
              <a:t>Cleaned Dataset </a:t>
            </a:r>
          </a:p>
          <a:p>
            <a:pPr marL="342900" indent="-342900">
              <a:buFont typeface="Arial" panose="020B0604020202020204" pitchFamily="34" charset="0"/>
              <a:buChar char="•"/>
            </a:pPr>
            <a:r>
              <a:rPr lang="en-IN" sz="2400" dirty="0"/>
              <a:t>Location-wise Accident Report </a:t>
            </a:r>
          </a:p>
          <a:p>
            <a:pPr marL="342900" indent="-342900">
              <a:buFont typeface="Arial" panose="020B0604020202020204" pitchFamily="34" charset="0"/>
              <a:buChar char="•"/>
            </a:pPr>
            <a:r>
              <a:rPr lang="en-IN" sz="2400" dirty="0"/>
              <a:t>Severity Analysis Charts </a:t>
            </a:r>
          </a:p>
          <a:p>
            <a:pPr marL="342900" indent="-342900">
              <a:buFont typeface="Arial" panose="020B0604020202020204" pitchFamily="34" charset="0"/>
              <a:buChar char="•"/>
            </a:pPr>
            <a:r>
              <a:rPr lang="en-IN" sz="2400" dirty="0"/>
              <a:t>Monthly Trend Chart </a:t>
            </a:r>
          </a:p>
          <a:p>
            <a:pPr marL="342900" indent="-342900">
              <a:buFont typeface="Arial" panose="020B0604020202020204" pitchFamily="34" charset="0"/>
              <a:buChar char="•"/>
            </a:pPr>
            <a:r>
              <a:rPr lang="en-IN" sz="2400" dirty="0"/>
              <a:t>Severity Distribution Pie Chart </a:t>
            </a:r>
          </a:p>
          <a:p>
            <a:pPr marL="342900" indent="-342900">
              <a:buFont typeface="Arial" panose="020B0604020202020204" pitchFamily="34" charset="0"/>
              <a:buChar char="•"/>
            </a:pPr>
            <a:r>
              <a:rPr lang="en-IN" sz="2400" dirty="0"/>
              <a:t>Accident Hotspot Insights</a:t>
            </a:r>
          </a:p>
        </p:txBody>
      </p:sp>
      <p:grpSp>
        <p:nvGrpSpPr>
          <p:cNvPr id="7" name="object 3">
            <a:extLst>
              <a:ext uri="{FF2B5EF4-FFF2-40B4-BE49-F238E27FC236}">
                <a16:creationId xmlns:a16="http://schemas.microsoft.com/office/drawing/2014/main" id="{1D05E8A7-0BAB-CD52-0FC4-DBD8F083248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2B30C952-F60A-FB38-53A3-CC89BA08827C}"/>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866CFA0-4F50-28F0-EFC2-86D038EB211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F09A4D8-A400-E0F8-0CA6-063B8B882E6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8E97D79-7FA8-D140-E726-79CFA9A5B81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0F701E1-161B-537E-CE8F-F2E5197F401F}"/>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a:extLst>
              <a:ext uri="{FF2B5EF4-FFF2-40B4-BE49-F238E27FC236}">
                <a16:creationId xmlns:a16="http://schemas.microsoft.com/office/drawing/2014/main" id="{F12DBFE6-BE52-C24E-9E8E-C14765A305F3}"/>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942059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872251" y="1423788"/>
            <a:ext cx="8574881" cy="378565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Traffic Accident Data Analysis System demonstrates the complete data analysis pipeline using Python.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project helps students understand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Collection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Cleaning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Preprocessing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Visualization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Basic Prediction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provides a strong foundation for future road safety analytics and Machine Learning projects.</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2575</TotalTime>
  <Words>708</Words>
  <Application>Microsoft Office PowerPoint</Application>
  <PresentationFormat>Custom</PresentationFormat>
  <Paragraphs>187</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vt:lpstr>
      <vt:lpstr>Palatino Linotype</vt:lpstr>
      <vt:lpstr>Times New Roman</vt:lpstr>
      <vt:lpstr>Wingdings</vt:lpstr>
      <vt:lpstr>Office Theme</vt:lpstr>
      <vt:lpstr>Data Analysis Essentials Cornerstone Project First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METHODOLOGY</vt:lpstr>
      <vt:lpstr>METHODOLOGY</vt:lpstr>
      <vt:lpstr>PowerPoint Presentation</vt:lpstr>
      <vt:lpstr>EXPECTED OUTPUTS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Muni Kiran</cp:lastModifiedBy>
  <cp:revision>49</cp:revision>
  <cp:lastPrinted>2025-10-14T18:21:49Z</cp:lastPrinted>
  <dcterms:created xsi:type="dcterms:W3CDTF">2025-10-10T08:28:06Z</dcterms:created>
  <dcterms:modified xsi:type="dcterms:W3CDTF">2026-09-15T13:55:15Z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